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3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72" r:id="rId6"/>
    <p:sldId id="276" r:id="rId7"/>
    <p:sldId id="277" r:id="rId8"/>
    <p:sldId id="278" r:id="rId9"/>
    <p:sldId id="266" r:id="rId10"/>
    <p:sldId id="273" r:id="rId11"/>
    <p:sldId id="283" r:id="rId12"/>
    <p:sldId id="280" r:id="rId13"/>
    <p:sldId id="279" r:id="rId14"/>
    <p:sldId id="282" r:id="rId15"/>
    <p:sldId id="284" r:id="rId16"/>
    <p:sldId id="285" r:id="rId17"/>
    <p:sldId id="265" r:id="rId18"/>
    <p:sldId id="286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Helle Formatvorlage 1 - Akz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1" autoAdjust="0"/>
    <p:restoredTop sz="94660"/>
  </p:normalViewPr>
  <p:slideViewPr>
    <p:cSldViewPr snapToGrid="0" showGuides="1">
      <p:cViewPr varScale="1">
        <p:scale>
          <a:sx n="104" d="100"/>
          <a:sy n="104" d="100"/>
        </p:scale>
        <p:origin x="316" y="8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F6A834-6FAB-4BA6-A272-563BDCE7B8EB}" type="datetimeFigureOut">
              <a:rPr lang="de-DE" smtClean="0"/>
              <a:t>21.04.2026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03F4E0-FD2B-44DD-B351-287E5CFB9B4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188401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03F4E0-FD2B-44DD-B351-287E5CFB9B42}" type="slidenum">
              <a:rPr lang="de-DE" smtClean="0"/>
              <a:t>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585445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B6D41BCC-AD73-4203-A5A6-E62EB28B0FE6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D637F8FC-4B86-4690-8888-22AB2F781BEF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3044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41BCC-AD73-4203-A5A6-E62EB28B0FE6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7F8FC-4B86-4690-8888-22AB2F781BEF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0494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41BCC-AD73-4203-A5A6-E62EB28B0FE6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7F8FC-4B86-4690-8888-22AB2F781BEF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9418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41BCC-AD73-4203-A5A6-E62EB28B0FE6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7F8FC-4B86-4690-8888-22AB2F781BEF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40531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41BCC-AD73-4203-A5A6-E62EB28B0FE6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7F8FC-4B86-4690-8888-22AB2F781BEF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099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41BCC-AD73-4203-A5A6-E62EB28B0FE6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7F8FC-4B86-4690-8888-22AB2F781BEF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27324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41BCC-AD73-4203-A5A6-E62EB28B0FE6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7F8FC-4B86-4690-8888-22AB2F781BEF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35079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41BCC-AD73-4203-A5A6-E62EB28B0FE6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7F8FC-4B86-4690-8888-22AB2F781BEF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01137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41BCC-AD73-4203-A5A6-E62EB28B0FE6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7F8FC-4B86-4690-8888-22AB2F781BEF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94133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abild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41BCC-AD73-4203-A5A6-E62EB28B0FE6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7F8FC-4B86-4690-8888-22AB2F781BEF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54890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und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41BCC-AD73-4203-A5A6-E62EB28B0FE6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7F8FC-4B86-4690-8888-22AB2F781BEF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140963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Zitat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41BCC-AD73-4203-A5A6-E62EB28B0FE6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7F8FC-4B86-4690-8888-22AB2F781BEF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6159713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nskar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41BCC-AD73-4203-A5A6-E62EB28B0FE6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7F8FC-4B86-4690-8888-22AB2F781BEF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052872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Sp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41BCC-AD73-4203-A5A6-E62EB28B0FE6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7F8FC-4B86-4690-8888-22AB2F781BEF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72786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Bildsp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41BCC-AD73-4203-A5A6-E62EB28B0FE6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7F8FC-4B86-4690-8888-22AB2F781BEF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106359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41BCC-AD73-4203-A5A6-E62EB28B0FE6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7F8FC-4B86-4690-8888-22AB2F781BEF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608890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41BCC-AD73-4203-A5A6-E62EB28B0FE6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7F8FC-4B86-4690-8888-22AB2F781BEF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22262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D41BCC-AD73-4203-A5A6-E62EB28B0FE6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37F8FC-4B86-4690-8888-22AB2F781BEF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31298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  <p:sldLayoutId id="2147483723" r:id="rId10"/>
    <p:sldLayoutId id="2147483724" r:id="rId11"/>
    <p:sldLayoutId id="2147483725" r:id="rId12"/>
    <p:sldLayoutId id="2147483726" r:id="rId13"/>
    <p:sldLayoutId id="2147483727" r:id="rId14"/>
    <p:sldLayoutId id="2147483728" r:id="rId15"/>
    <p:sldLayoutId id="2147483729" r:id="rId16"/>
    <p:sldLayoutId id="2147483730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freiheits-stack/slot_project.git" TargetMode="External"/><Relationship Id="rId2" Type="http://schemas.openxmlformats.org/officeDocument/2006/relationships/hyperlink" Target="https://git-scm.com/install/windows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CF0D314-95CE-74DE-04C4-D8E98B88007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anchor="ctr">
            <a:normAutofit/>
          </a:bodyPr>
          <a:lstStyle/>
          <a:p>
            <a:r>
              <a:rPr lang="de-DE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Entwicklung eines einfachen Spiels unter Steuerung von Quantenzufall</a:t>
            </a:r>
            <a:br>
              <a:rPr lang="de-DE" dirty="0"/>
            </a:br>
            <a:r>
              <a:rPr lang="de-DE" sz="27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Analyse von Pseudo- vs. Quantenzufall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533E223C-D13E-1185-DAA2-DC56DF35047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de-DE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Stefanie Freiheit</a:t>
            </a:r>
            <a:br>
              <a:rPr lang="de-DE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de-DE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Computational Science and Engineering</a:t>
            </a:r>
            <a:endParaRPr lang="de-DE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Cambria" panose="02040503050406030204" pitchFamily="18" charset="0"/>
              </a:rPr>
              <a:t>Betreuer: Prof. Dr. Ralf Otte</a:t>
            </a:r>
            <a:b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Cambria" panose="02040503050406030204" pitchFamily="18" charset="0"/>
              </a:rPr>
            </a:br>
            <a: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Cambria" panose="02040503050406030204" pitchFamily="18" charset="0"/>
              </a:rPr>
              <a:t>Technische Hochschule Ulm</a:t>
            </a:r>
          </a:p>
          <a:p>
            <a: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Cambria" panose="02040503050406030204" pitchFamily="18" charset="0"/>
              </a:rPr>
              <a:t>17.04.2026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3053899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44DAC21-8AA8-0117-AE94-162FE78FA8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Gliederung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82FED47-C3A5-2B12-1C4B-E874C6ED4AB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Motivation</a:t>
            </a:r>
          </a:p>
          <a:p>
            <a: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Forschungsfrage</a:t>
            </a:r>
          </a:p>
          <a:p>
            <a: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Versuchsaufbau</a:t>
            </a:r>
          </a:p>
          <a:p>
            <a: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Spielmechanik</a:t>
            </a:r>
          </a:p>
          <a:p>
            <a: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Features</a:t>
            </a:r>
          </a:p>
          <a:p>
            <a: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Erwartungswert &amp; Varianz</a:t>
            </a:r>
          </a:p>
          <a:p>
            <a: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Umsetzung der Zufallszahlen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5D9FD5FE-2B5C-481F-6B1E-3CAEAC08C07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20000"/>
          </a:bodyPr>
          <a:lstStyle/>
          <a:p>
            <a: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Experimentdesign</a:t>
            </a:r>
          </a:p>
          <a:p>
            <a: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Untersuchte Kennzahlen</a:t>
            </a:r>
          </a:p>
          <a:p>
            <a: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Ergebnisse</a:t>
            </a:r>
          </a:p>
          <a:p>
            <a:pPr lvl="1"/>
            <a: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RTP</a:t>
            </a:r>
          </a:p>
          <a:p>
            <a:pPr lvl="1"/>
            <a: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Autokorrelation</a:t>
            </a:r>
          </a:p>
          <a:p>
            <a:pPr lvl="1"/>
            <a: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Weitere Metriken</a:t>
            </a:r>
          </a:p>
          <a:p>
            <a: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Fazit</a:t>
            </a:r>
          </a:p>
          <a:p>
            <a: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Ausblick</a:t>
            </a:r>
          </a:p>
        </p:txBody>
      </p:sp>
    </p:spTree>
    <p:extLst>
      <p:ext uri="{BB962C8B-B14F-4D97-AF65-F5344CB8AC3E}">
        <p14:creationId xmlns:p14="http://schemas.microsoft.com/office/powerpoint/2010/main" val="35736269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3DBE474-6199-21A7-23E2-FDCB508657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Motivation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0FFFC6B5-5785-63FA-3761-129190A5A42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85000" lnSpcReduction="10000"/>
          </a:bodyPr>
          <a:lstStyle/>
          <a:p>
            <a:pPr marL="36900" lvl="0" indent="0">
              <a:buNone/>
            </a:pPr>
            <a: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Zufall spielt eine zentrale Rolle in:</a:t>
            </a:r>
            <a:b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b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• Glücksspielsystemen (z. B. Slot Maschinen)</a:t>
            </a:r>
            <a:b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• Simulationen und Modellierungen</a:t>
            </a:r>
            <a:b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• Kryptographischen Anwendungen</a:t>
            </a:r>
            <a:b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b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 der Praxis werden meist Pseudozufallszahlen verwendet.</a:t>
            </a:r>
            <a:b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b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→ Frage: Reicht das aus?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D576D00B-0CD3-AC84-39A8-E1019C69C566}"/>
              </a:ext>
            </a:extLst>
          </p:cNvPr>
          <p:cNvSpPr txBox="1"/>
          <p:nvPr/>
        </p:nvSpPr>
        <p:spPr>
          <a:xfrm>
            <a:off x="9906000" y="281454"/>
            <a:ext cx="5517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[B1]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33D9C023-8B60-C4F7-EB33-0740781D69A2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7770" y="2515166"/>
            <a:ext cx="4507128" cy="30080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7394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1AA9815-C4F7-E74F-3437-294FE687BD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1158567"/>
            <a:ext cx="9905998" cy="1478570"/>
          </a:xfrm>
        </p:spPr>
        <p:txBody>
          <a:bodyPr/>
          <a:lstStyle/>
          <a:p>
            <a:pPr algn="ctr"/>
            <a: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Forschungsfrage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A273105-3247-7FA4-977F-759FBA6626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2957991"/>
            <a:ext cx="9905999" cy="2833209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Unterscheidet sich das Verhalten von Pseudozufall und Quantenzufall in einem konkreten Anwendungsszenario (= Slot Maschine) messbar in statistischen Kennzahlen?</a:t>
            </a:r>
            <a:b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endParaRPr lang="de-DE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7393951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E2C1D4E-C049-20BC-7114-893525B250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Versuchsaufbau – Slot Maschine als Modell</a:t>
            </a:r>
            <a:endParaRPr lang="de-DE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F952372-28DA-9FC2-08AC-53667541A0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Implementierung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8A6DB417-49C2-4F93-7154-EFB27AC2AE7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20000"/>
          </a:bodyPr>
          <a:lstStyle/>
          <a:p>
            <a: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Programmiersprache: 	Python</a:t>
            </a:r>
          </a:p>
          <a:p>
            <a: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IDE: 			VS-Code</a:t>
            </a:r>
          </a:p>
          <a:p>
            <a: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Geteilt via: 		GIT-Repository</a:t>
            </a:r>
          </a:p>
          <a:p>
            <a: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Ausgabe: 		CSV-Dateien</a:t>
            </a:r>
          </a:p>
          <a:p>
            <a: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Auswertung:		MATLAB (statistische Tests)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28D0618F-C1E9-DD93-17EE-63474B7AE1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Externe Hardware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B7F1E68F-E855-74DD-623E-F8F3C361063E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 fontScale="92500" lnSpcReduction="20000"/>
          </a:bodyPr>
          <a:lstStyle/>
          <a:p>
            <a: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True RNG - Stick</a:t>
            </a:r>
            <a:b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– liefert physikalisch erzeugte Zufallsbits</a:t>
            </a:r>
          </a:p>
        </p:txBody>
      </p:sp>
    </p:spTree>
    <p:extLst>
      <p:ext uri="{BB962C8B-B14F-4D97-AF65-F5344CB8AC3E}">
        <p14:creationId xmlns:p14="http://schemas.microsoft.com/office/powerpoint/2010/main" val="37030169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CAECC78-6611-F181-F92D-3316165440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Spielmechanik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10511B8-BCB6-5663-5A75-A69ECECD42A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 Walzen </a:t>
            </a:r>
          </a:p>
          <a:p>
            <a: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 Symbole (A – E)</a:t>
            </a:r>
          </a:p>
          <a:p>
            <a: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Variable Zufallsquelle</a:t>
            </a:r>
          </a:p>
          <a:p>
            <a:pPr lvl="1"/>
            <a: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Live Quantenzufall über True RNG</a:t>
            </a:r>
          </a:p>
          <a:p>
            <a:pPr lvl="1"/>
            <a: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Vorgenerierte Zufalls-Bitsequenzen (reproduzierbar)</a:t>
            </a:r>
          </a:p>
          <a:p>
            <a:pPr lvl="1"/>
            <a: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Pseudozufall (Reproduzierbar mit Seed)</a:t>
            </a:r>
          </a:p>
          <a:p>
            <a: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Variable Spielmodi</a:t>
            </a:r>
          </a:p>
          <a:p>
            <a:pPr lvl="1"/>
            <a: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Manuell</a:t>
            </a:r>
          </a:p>
          <a:p>
            <a:pPr lvl="1"/>
            <a: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Autoplay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AE8692C7-FDFF-8736-EE6D-188CFD9D9F8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77500" lnSpcReduction="20000"/>
          </a:bodyPr>
          <a:lstStyle/>
          <a:p>
            <a: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variable Einsätze (1 / 3 / 5 </a:t>
            </a:r>
            <a:r>
              <a:rPr lang="de-DE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Credits</a:t>
            </a:r>
            <a: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</a:p>
          <a:p>
            <a: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variable Gewinnlinienanzahl (1 / 3 / 5)</a:t>
            </a:r>
          </a:p>
          <a:p>
            <a: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Startkapital wählbar</a:t>
            </a:r>
          </a:p>
          <a:p>
            <a: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Ende des Spiels:</a:t>
            </a:r>
          </a:p>
          <a:p>
            <a:pPr lvl="1"/>
            <a: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Manuell</a:t>
            </a:r>
          </a:p>
          <a:p>
            <a:pPr lvl="1"/>
            <a: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Bankrott</a:t>
            </a:r>
          </a:p>
          <a:p>
            <a:pPr lvl="1"/>
            <a: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Bei Autoplay:</a:t>
            </a:r>
          </a:p>
          <a:p>
            <a:pPr lvl="2"/>
            <a: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Wählbare Maximalanzahl an Spins</a:t>
            </a:r>
          </a:p>
          <a:p>
            <a:pPr lvl="2"/>
            <a: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Wählbarer Zielgewinn</a:t>
            </a:r>
          </a:p>
        </p:txBody>
      </p:sp>
    </p:spTree>
    <p:extLst>
      <p:ext uri="{BB962C8B-B14F-4D97-AF65-F5344CB8AC3E}">
        <p14:creationId xmlns:p14="http://schemas.microsoft.com/office/powerpoint/2010/main" val="173504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2">
            <a:extLst>
              <a:ext uri="{FF2B5EF4-FFF2-40B4-BE49-F238E27FC236}">
                <a16:creationId xmlns:a16="http://schemas.microsoft.com/office/drawing/2014/main" id="{5FF7B57D-FF7B-48B3-9F60-9BCEEECF9E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:p14="http://schemas.microsoft.com/office/powerpoint/2010/main" xmlns:a16="http://schemas.microsoft.com/office/drawing/2014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EB95AFDF-FA7D-4311-9C65-6D507D92F4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9A5CCD98-20C1-4404-B788-FDA92F8A44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6" name="Rectangle 5">
                <a:extLst>
                  <a:ext uri="{FF2B5EF4-FFF2-40B4-BE49-F238E27FC236}">
                    <a16:creationId xmlns:a16="http://schemas.microsoft.com/office/drawing/2014/main" id="{C1424C76-B5C3-468E-86FA-8D9B269053D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27" name="Freeform 6">
                <a:extLst>
                  <a:ext uri="{FF2B5EF4-FFF2-40B4-BE49-F238E27FC236}">
                    <a16:creationId xmlns:a16="http://schemas.microsoft.com/office/drawing/2014/main" id="{B3922267-72C9-403B-A6DE-7D0A43D5541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28" name="Freeform 7">
                <a:extLst>
                  <a:ext uri="{FF2B5EF4-FFF2-40B4-BE49-F238E27FC236}">
                    <a16:creationId xmlns:a16="http://schemas.microsoft.com/office/drawing/2014/main" id="{7276DB68-2E8D-4723-852B-7476DD38FED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29" name="Freeform 8">
                <a:extLst>
                  <a:ext uri="{FF2B5EF4-FFF2-40B4-BE49-F238E27FC236}">
                    <a16:creationId xmlns:a16="http://schemas.microsoft.com/office/drawing/2014/main" id="{0A155711-4993-4D1E-89EA-A397C164F0F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30" name="Freeform 9">
                <a:extLst>
                  <a:ext uri="{FF2B5EF4-FFF2-40B4-BE49-F238E27FC236}">
                    <a16:creationId xmlns:a16="http://schemas.microsoft.com/office/drawing/2014/main" id="{2AB42136-2551-4CAA-857F-65FA3247B49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31" name="Freeform 10">
                <a:extLst>
                  <a:ext uri="{FF2B5EF4-FFF2-40B4-BE49-F238E27FC236}">
                    <a16:creationId xmlns:a16="http://schemas.microsoft.com/office/drawing/2014/main" id="{7C2ADEA1-EA3E-4C0E-A28E-460092F7FFD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32" name="Freeform 11">
                <a:extLst>
                  <a:ext uri="{FF2B5EF4-FFF2-40B4-BE49-F238E27FC236}">
                    <a16:creationId xmlns:a16="http://schemas.microsoft.com/office/drawing/2014/main" id="{B04584B3-081C-4286-A840-AB5B16B10AA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33" name="Freeform 12">
                <a:extLst>
                  <a:ext uri="{FF2B5EF4-FFF2-40B4-BE49-F238E27FC236}">
                    <a16:creationId xmlns:a16="http://schemas.microsoft.com/office/drawing/2014/main" id="{3AB388FD-C246-4936-A041-E0413A13298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34" name="Freeform 13">
                <a:extLst>
                  <a:ext uri="{FF2B5EF4-FFF2-40B4-BE49-F238E27FC236}">
                    <a16:creationId xmlns:a16="http://schemas.microsoft.com/office/drawing/2014/main" id="{57692343-2D12-4F57-836C-945D407B68B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35" name="Freeform 14">
                <a:extLst>
                  <a:ext uri="{FF2B5EF4-FFF2-40B4-BE49-F238E27FC236}">
                    <a16:creationId xmlns:a16="http://schemas.microsoft.com/office/drawing/2014/main" id="{062EE710-0210-4840-8698-E0DF1C61700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36" name="Freeform 15">
                <a:extLst>
                  <a:ext uri="{FF2B5EF4-FFF2-40B4-BE49-F238E27FC236}">
                    <a16:creationId xmlns:a16="http://schemas.microsoft.com/office/drawing/2014/main" id="{161892F4-6071-40CD-8E18-CDEE0C91B58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37" name="Line 16">
                <a:extLst>
                  <a:ext uri="{FF2B5EF4-FFF2-40B4-BE49-F238E27FC236}">
                    <a16:creationId xmlns:a16="http://schemas.microsoft.com/office/drawing/2014/main" id="{3E6BBE44-8D88-407D-B1C6-10C89DD6173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ShapeType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38" name="Freeform 17">
                <a:extLst>
                  <a:ext uri="{FF2B5EF4-FFF2-40B4-BE49-F238E27FC236}">
                    <a16:creationId xmlns:a16="http://schemas.microsoft.com/office/drawing/2014/main" id="{1E90AE6E-328E-4730-825C-B5130F5CFCA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39" name="Freeform 18">
                <a:extLst>
                  <a:ext uri="{FF2B5EF4-FFF2-40B4-BE49-F238E27FC236}">
                    <a16:creationId xmlns:a16="http://schemas.microsoft.com/office/drawing/2014/main" id="{24EC969F-6E4A-4163-ABDA-4674429A3DC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40" name="Freeform 19">
                <a:extLst>
                  <a:ext uri="{FF2B5EF4-FFF2-40B4-BE49-F238E27FC236}">
                    <a16:creationId xmlns:a16="http://schemas.microsoft.com/office/drawing/2014/main" id="{1B735C94-B049-42C6-9DEF-5DB70D58CE4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41" name="Freeform 20">
                <a:extLst>
                  <a:ext uri="{FF2B5EF4-FFF2-40B4-BE49-F238E27FC236}">
                    <a16:creationId xmlns:a16="http://schemas.microsoft.com/office/drawing/2014/main" id="{051C02E6-1954-478B-AEAE-BF8F36BE941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42" name="Rectangle 21">
                <a:extLst>
                  <a:ext uri="{FF2B5EF4-FFF2-40B4-BE49-F238E27FC236}">
                    <a16:creationId xmlns:a16="http://schemas.microsoft.com/office/drawing/2014/main" id="{6710B1C0-310A-48D0-B824-459D9AFC2FB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43" name="Freeform 22">
                <a:extLst>
                  <a:ext uri="{FF2B5EF4-FFF2-40B4-BE49-F238E27FC236}">
                    <a16:creationId xmlns:a16="http://schemas.microsoft.com/office/drawing/2014/main" id="{1204A606-D9A6-4DC6-9F0E-D516EA1EB95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44" name="Freeform 23">
                <a:extLst>
                  <a:ext uri="{FF2B5EF4-FFF2-40B4-BE49-F238E27FC236}">
                    <a16:creationId xmlns:a16="http://schemas.microsoft.com/office/drawing/2014/main" id="{EE569555-0243-4979-A537-C9B4AFD5F25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45" name="Freeform 24">
                <a:extLst>
                  <a:ext uri="{FF2B5EF4-FFF2-40B4-BE49-F238E27FC236}">
                    <a16:creationId xmlns:a16="http://schemas.microsoft.com/office/drawing/2014/main" id="{D52A977D-4993-48AF-A792-F2DE0963914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46" name="Freeform 25">
                <a:extLst>
                  <a:ext uri="{FF2B5EF4-FFF2-40B4-BE49-F238E27FC236}">
                    <a16:creationId xmlns:a16="http://schemas.microsoft.com/office/drawing/2014/main" id="{93CFF2DC-E52E-4D99-97D5-B0D7B792E50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47" name="Freeform 26">
                <a:extLst>
                  <a:ext uri="{FF2B5EF4-FFF2-40B4-BE49-F238E27FC236}">
                    <a16:creationId xmlns:a16="http://schemas.microsoft.com/office/drawing/2014/main" id="{5E175372-AF09-42A7-B3D0-226C8348917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48" name="Freeform 27">
                <a:extLst>
                  <a:ext uri="{FF2B5EF4-FFF2-40B4-BE49-F238E27FC236}">
                    <a16:creationId xmlns:a16="http://schemas.microsoft.com/office/drawing/2014/main" id="{ABF20BA9-F4B2-49EA-A573-578B1897747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49" name="Freeform 28">
                <a:extLst>
                  <a:ext uri="{FF2B5EF4-FFF2-40B4-BE49-F238E27FC236}">
                    <a16:creationId xmlns:a16="http://schemas.microsoft.com/office/drawing/2014/main" id="{AA3A7A4B-C811-4E23-8BFD-5823A032DA3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50" name="Freeform 29">
                <a:extLst>
                  <a:ext uri="{FF2B5EF4-FFF2-40B4-BE49-F238E27FC236}">
                    <a16:creationId xmlns:a16="http://schemas.microsoft.com/office/drawing/2014/main" id="{47537781-F057-4B97-AD8F-12FE9BE599A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51" name="Freeform 30">
                <a:extLst>
                  <a:ext uri="{FF2B5EF4-FFF2-40B4-BE49-F238E27FC236}">
                    <a16:creationId xmlns:a16="http://schemas.microsoft.com/office/drawing/2014/main" id="{078883C7-EB52-4BB7-A9A7-F8C046A8331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52" name="Freeform 31">
                <a:extLst>
                  <a:ext uri="{FF2B5EF4-FFF2-40B4-BE49-F238E27FC236}">
                    <a16:creationId xmlns:a16="http://schemas.microsoft.com/office/drawing/2014/main" id="{63CCBBF8-5972-4ED3-AB5B-46DC425B177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A8C19883-37FB-437C-A3AA-89AA6239D3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6" name="Freeform 32">
                <a:extLst>
                  <a:ext uri="{FF2B5EF4-FFF2-40B4-BE49-F238E27FC236}">
                    <a16:creationId xmlns:a16="http://schemas.microsoft.com/office/drawing/2014/main" id="{AF1753DD-4CEF-45EC-B952-90EA8895D7C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17" name="Freeform 33">
                <a:extLst>
                  <a:ext uri="{FF2B5EF4-FFF2-40B4-BE49-F238E27FC236}">
                    <a16:creationId xmlns:a16="http://schemas.microsoft.com/office/drawing/2014/main" id="{5B9356DB-C1BE-4D76-8FA7-4FBAA12D1D3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18" name="Freeform 34">
                <a:extLst>
                  <a:ext uri="{FF2B5EF4-FFF2-40B4-BE49-F238E27FC236}">
                    <a16:creationId xmlns:a16="http://schemas.microsoft.com/office/drawing/2014/main" id="{C4F59561-572D-42BA-A6FD-F3AFA1A394D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19" name="Freeform 35">
                <a:extLst>
                  <a:ext uri="{FF2B5EF4-FFF2-40B4-BE49-F238E27FC236}">
                    <a16:creationId xmlns:a16="http://schemas.microsoft.com/office/drawing/2014/main" id="{BB7A51A1-D509-4494-BAE2-1B96CAD4DB3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20" name="Freeform 36">
                <a:extLst>
                  <a:ext uri="{FF2B5EF4-FFF2-40B4-BE49-F238E27FC236}">
                    <a16:creationId xmlns:a16="http://schemas.microsoft.com/office/drawing/2014/main" id="{D3FE0B5A-55DE-4E56-8E9B-B92D1DB9A89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21" name="Freeform 37">
                <a:extLst>
                  <a:ext uri="{FF2B5EF4-FFF2-40B4-BE49-F238E27FC236}">
                    <a16:creationId xmlns:a16="http://schemas.microsoft.com/office/drawing/2014/main" id="{F125661C-3A0E-4B6E-B2AB-1B08C892517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22" name="Freeform 38">
                <a:extLst>
                  <a:ext uri="{FF2B5EF4-FFF2-40B4-BE49-F238E27FC236}">
                    <a16:creationId xmlns:a16="http://schemas.microsoft.com/office/drawing/2014/main" id="{39304006-EE77-438A-A0D1-537322356C1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23" name="Freeform 39">
                <a:extLst>
                  <a:ext uri="{FF2B5EF4-FFF2-40B4-BE49-F238E27FC236}">
                    <a16:creationId xmlns:a16="http://schemas.microsoft.com/office/drawing/2014/main" id="{C6031DEB-4109-4049-82CF-DD06483A2CA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24" name="Freeform 40">
                <a:extLst>
                  <a:ext uri="{FF2B5EF4-FFF2-40B4-BE49-F238E27FC236}">
                    <a16:creationId xmlns:a16="http://schemas.microsoft.com/office/drawing/2014/main" id="{65FC2657-18D6-4490-88D6-32E6B1C6FB1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25" name="Rectangle 41">
                <a:extLst>
                  <a:ext uri="{FF2B5EF4-FFF2-40B4-BE49-F238E27FC236}">
                    <a16:creationId xmlns:a16="http://schemas.microsoft.com/office/drawing/2014/main" id="{20BEA03B-3EAD-4FA2-BC9D-25A14D635CF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</p:grpSp>
      </p:grpSp>
      <p:sp>
        <p:nvSpPr>
          <p:cNvPr id="54" name="Rectangle 53">
            <a:extLst>
              <a:ext uri="{FF2B5EF4-FFF2-40B4-BE49-F238E27FC236}">
                <a16:creationId xmlns:a16="http://schemas.microsoft.com/office/drawing/2014/main" id="{046B922C-5BA7-4973-B12F-71A509E4B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6" name="Group 55">
            <a:extLst>
              <a:ext uri="{FF2B5EF4-FFF2-40B4-BE49-F238E27FC236}">
                <a16:creationId xmlns:a16="http://schemas.microsoft.com/office/drawing/2014/main" id="{96D34D8D-9EE9-4659-8C22-7551A95F96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1902285" cy="6858001"/>
            <a:chOff x="0" y="0"/>
            <a:chExt cx="11902285" cy="6858001"/>
          </a:xfrm>
        </p:grpSpPr>
        <p:grpSp>
          <p:nvGrpSpPr>
            <p:cNvPr id="57" name="Group 56">
              <a:extLst>
                <a:ext uri="{FF2B5EF4-FFF2-40B4-BE49-F238E27FC236}">
                  <a16:creationId xmlns:a16="http://schemas.microsoft.com/office/drawing/2014/main" id="{3CA93C16-1147-4EB3-B4E7-3C43102494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0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bg2"/>
                </a:gs>
                <a:gs pos="100000">
                  <a:schemeClr val="tx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69" name="Rectangle 5">
                <a:extLst>
                  <a:ext uri="{FF2B5EF4-FFF2-40B4-BE49-F238E27FC236}">
                    <a16:creationId xmlns:a16="http://schemas.microsoft.com/office/drawing/2014/main" id="{C4779968-92AF-4B85-8C27-EBBFE1D6990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70" name="Freeform 6">
                <a:extLst>
                  <a:ext uri="{FF2B5EF4-FFF2-40B4-BE49-F238E27FC236}">
                    <a16:creationId xmlns:a16="http://schemas.microsoft.com/office/drawing/2014/main" id="{2C43E18D-7024-4F17-A664-E23BFBC12B7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71" name="Freeform 7">
                <a:extLst>
                  <a:ext uri="{FF2B5EF4-FFF2-40B4-BE49-F238E27FC236}">
                    <a16:creationId xmlns:a16="http://schemas.microsoft.com/office/drawing/2014/main" id="{CA2ACEBA-081B-4B0B-AFB1-C596B834FDA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72" name="Freeform 8">
                <a:extLst>
                  <a:ext uri="{FF2B5EF4-FFF2-40B4-BE49-F238E27FC236}">
                    <a16:creationId xmlns:a16="http://schemas.microsoft.com/office/drawing/2014/main" id="{2AFBB163-514B-493A-983F-8BE96848F9B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73" name="Freeform 9">
                <a:extLst>
                  <a:ext uri="{FF2B5EF4-FFF2-40B4-BE49-F238E27FC236}">
                    <a16:creationId xmlns:a16="http://schemas.microsoft.com/office/drawing/2014/main" id="{7720326C-7DB1-4745-9015-3FA6990855B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74" name="Freeform 10">
                <a:extLst>
                  <a:ext uri="{FF2B5EF4-FFF2-40B4-BE49-F238E27FC236}">
                    <a16:creationId xmlns:a16="http://schemas.microsoft.com/office/drawing/2014/main" id="{01D5FBDC-A284-440B-8D5F-84287B0A25D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75" name="Freeform 11">
                <a:extLst>
                  <a:ext uri="{FF2B5EF4-FFF2-40B4-BE49-F238E27FC236}">
                    <a16:creationId xmlns:a16="http://schemas.microsoft.com/office/drawing/2014/main" id="{517CE611-1CB0-442B-8998-98487209B0E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76" name="Freeform 12">
                <a:extLst>
                  <a:ext uri="{FF2B5EF4-FFF2-40B4-BE49-F238E27FC236}">
                    <a16:creationId xmlns:a16="http://schemas.microsoft.com/office/drawing/2014/main" id="{EF0F0E46-9222-4FCF-A79E-9B4953C6F07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77" name="Freeform 13">
                <a:extLst>
                  <a:ext uri="{FF2B5EF4-FFF2-40B4-BE49-F238E27FC236}">
                    <a16:creationId xmlns:a16="http://schemas.microsoft.com/office/drawing/2014/main" id="{371A87C3-0804-4AB9-8EAD-FBFF597ED82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78" name="Freeform 14">
                <a:extLst>
                  <a:ext uri="{FF2B5EF4-FFF2-40B4-BE49-F238E27FC236}">
                    <a16:creationId xmlns:a16="http://schemas.microsoft.com/office/drawing/2014/main" id="{89F39433-8BC3-48D6-B705-F951DBDAABD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79" name="Freeform 15">
                <a:extLst>
                  <a:ext uri="{FF2B5EF4-FFF2-40B4-BE49-F238E27FC236}">
                    <a16:creationId xmlns:a16="http://schemas.microsoft.com/office/drawing/2014/main" id="{AE671C9D-E91C-4143-A422-273B2F53F69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80" name="Line 16">
                <a:extLst>
                  <a:ext uri="{FF2B5EF4-FFF2-40B4-BE49-F238E27FC236}">
                    <a16:creationId xmlns:a16="http://schemas.microsoft.com/office/drawing/2014/main" id="{83A72EA3-8833-41C6-9333-6A04C1C08DF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ShapeType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81" name="Freeform 17">
                <a:extLst>
                  <a:ext uri="{FF2B5EF4-FFF2-40B4-BE49-F238E27FC236}">
                    <a16:creationId xmlns:a16="http://schemas.microsoft.com/office/drawing/2014/main" id="{2C0D7AAB-DC9C-4B37-A50E-A7185DE92E4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82" name="Freeform 18">
                <a:extLst>
                  <a:ext uri="{FF2B5EF4-FFF2-40B4-BE49-F238E27FC236}">
                    <a16:creationId xmlns:a16="http://schemas.microsoft.com/office/drawing/2014/main" id="{6E7D9D6B-3455-4363-934B-FA2D6829316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83" name="Freeform 19">
                <a:extLst>
                  <a:ext uri="{FF2B5EF4-FFF2-40B4-BE49-F238E27FC236}">
                    <a16:creationId xmlns:a16="http://schemas.microsoft.com/office/drawing/2014/main" id="{FFFFCA54-2217-4DAE-B791-4A6CA7DE0BD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84" name="Freeform 20">
                <a:extLst>
                  <a:ext uri="{FF2B5EF4-FFF2-40B4-BE49-F238E27FC236}">
                    <a16:creationId xmlns:a16="http://schemas.microsoft.com/office/drawing/2014/main" id="{BAE43BA5-C104-4FBB-B1C6-C210D3CC532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85" name="Rectangle 21">
                <a:extLst>
                  <a:ext uri="{FF2B5EF4-FFF2-40B4-BE49-F238E27FC236}">
                    <a16:creationId xmlns:a16="http://schemas.microsoft.com/office/drawing/2014/main" id="{3BDB2330-DF01-460D-83FB-00C37965CD5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86" name="Freeform 22">
                <a:extLst>
                  <a:ext uri="{FF2B5EF4-FFF2-40B4-BE49-F238E27FC236}">
                    <a16:creationId xmlns:a16="http://schemas.microsoft.com/office/drawing/2014/main" id="{51261093-9B7F-4406-B2F8-0F5BE7676A2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87" name="Freeform 23">
                <a:extLst>
                  <a:ext uri="{FF2B5EF4-FFF2-40B4-BE49-F238E27FC236}">
                    <a16:creationId xmlns:a16="http://schemas.microsoft.com/office/drawing/2014/main" id="{9971E195-2AB6-4CB6-9BD7-A8407B5C809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88" name="Freeform 24">
                <a:extLst>
                  <a:ext uri="{FF2B5EF4-FFF2-40B4-BE49-F238E27FC236}">
                    <a16:creationId xmlns:a16="http://schemas.microsoft.com/office/drawing/2014/main" id="{A3D843E7-8A86-4676-9C98-DECE0DFF674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89" name="Freeform 25">
                <a:extLst>
                  <a:ext uri="{FF2B5EF4-FFF2-40B4-BE49-F238E27FC236}">
                    <a16:creationId xmlns:a16="http://schemas.microsoft.com/office/drawing/2014/main" id="{FAF42817-AB3E-40FA-997F-EAC1411F465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90" name="Freeform 26">
                <a:extLst>
                  <a:ext uri="{FF2B5EF4-FFF2-40B4-BE49-F238E27FC236}">
                    <a16:creationId xmlns:a16="http://schemas.microsoft.com/office/drawing/2014/main" id="{50ED3298-A6DC-4825-93B1-68DB8CB629A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91" name="Freeform 27">
                <a:extLst>
                  <a:ext uri="{FF2B5EF4-FFF2-40B4-BE49-F238E27FC236}">
                    <a16:creationId xmlns:a16="http://schemas.microsoft.com/office/drawing/2014/main" id="{2B951778-3B6B-4BB9-9D89-2ED650C8204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92" name="Freeform 28">
                <a:extLst>
                  <a:ext uri="{FF2B5EF4-FFF2-40B4-BE49-F238E27FC236}">
                    <a16:creationId xmlns:a16="http://schemas.microsoft.com/office/drawing/2014/main" id="{8F3ED9A8-A83F-463A-8C2E-E83977D9A9C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93" name="Freeform 29">
                <a:extLst>
                  <a:ext uri="{FF2B5EF4-FFF2-40B4-BE49-F238E27FC236}">
                    <a16:creationId xmlns:a16="http://schemas.microsoft.com/office/drawing/2014/main" id="{9A0C113E-781D-4083-86C0-EC936092D27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94" name="Freeform 30">
                <a:extLst>
                  <a:ext uri="{FF2B5EF4-FFF2-40B4-BE49-F238E27FC236}">
                    <a16:creationId xmlns:a16="http://schemas.microsoft.com/office/drawing/2014/main" id="{B63D60EF-1E99-4D4C-BF11-AAF8ABEB86E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95" name="Freeform 31">
                <a:extLst>
                  <a:ext uri="{FF2B5EF4-FFF2-40B4-BE49-F238E27FC236}">
                    <a16:creationId xmlns:a16="http://schemas.microsoft.com/office/drawing/2014/main" id="{50403E41-7079-49EA-8D0B-4F678552D9B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</p:grpSp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E3B2C458-4D37-49A0-A94E-D516E05C3C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11227597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bg2"/>
                </a:gs>
                <a:gs pos="100000">
                  <a:schemeClr val="tx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59" name="Freeform 32">
                <a:extLst>
                  <a:ext uri="{FF2B5EF4-FFF2-40B4-BE49-F238E27FC236}">
                    <a16:creationId xmlns:a16="http://schemas.microsoft.com/office/drawing/2014/main" id="{C1B10016-E0C4-4526-A466-9911541D26E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60" name="Freeform 33">
                <a:extLst>
                  <a:ext uri="{FF2B5EF4-FFF2-40B4-BE49-F238E27FC236}">
                    <a16:creationId xmlns:a16="http://schemas.microsoft.com/office/drawing/2014/main" id="{D574C3F0-FC2B-43A3-94B2-75D305FBF7D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61" name="Freeform 34">
                <a:extLst>
                  <a:ext uri="{FF2B5EF4-FFF2-40B4-BE49-F238E27FC236}">
                    <a16:creationId xmlns:a16="http://schemas.microsoft.com/office/drawing/2014/main" id="{D92A5F66-F404-433B-BDBE-5E0DFF40D65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62" name="Freeform 35">
                <a:extLst>
                  <a:ext uri="{FF2B5EF4-FFF2-40B4-BE49-F238E27FC236}">
                    <a16:creationId xmlns:a16="http://schemas.microsoft.com/office/drawing/2014/main" id="{0A0BDF81-64CC-431D-81B1-A21938C0543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63" name="Freeform 36">
                <a:extLst>
                  <a:ext uri="{FF2B5EF4-FFF2-40B4-BE49-F238E27FC236}">
                    <a16:creationId xmlns:a16="http://schemas.microsoft.com/office/drawing/2014/main" id="{42871530-50EC-42C2-879A-AE8154DADC0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64" name="Freeform 37">
                <a:extLst>
                  <a:ext uri="{FF2B5EF4-FFF2-40B4-BE49-F238E27FC236}">
                    <a16:creationId xmlns:a16="http://schemas.microsoft.com/office/drawing/2014/main" id="{53AF2F2A-B148-4906-B90D-6E222397845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65" name="Freeform 38">
                <a:extLst>
                  <a:ext uri="{FF2B5EF4-FFF2-40B4-BE49-F238E27FC236}">
                    <a16:creationId xmlns:a16="http://schemas.microsoft.com/office/drawing/2014/main" id="{9A79EAA4-6F5D-4A2C-B688-CD29C2217C0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66" name="Freeform 39">
                <a:extLst>
                  <a:ext uri="{FF2B5EF4-FFF2-40B4-BE49-F238E27FC236}">
                    <a16:creationId xmlns:a16="http://schemas.microsoft.com/office/drawing/2014/main" id="{B9CE5833-22CF-4408-9338-4B7749FEA3D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67" name="Freeform 40">
                <a:extLst>
                  <a:ext uri="{FF2B5EF4-FFF2-40B4-BE49-F238E27FC236}">
                    <a16:creationId xmlns:a16="http://schemas.microsoft.com/office/drawing/2014/main" id="{316A985A-7ADD-4BEE-A7B6-E5B49E1839E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68" name="Rectangle 41">
                <a:extLst>
                  <a:ext uri="{FF2B5EF4-FFF2-40B4-BE49-F238E27FC236}">
                    <a16:creationId xmlns:a16="http://schemas.microsoft.com/office/drawing/2014/main" id="{352CFA3F-5CFE-412E-9196-C966F34579D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</p:grpSp>
      </p:grpSp>
      <p:pic>
        <p:nvPicPr>
          <p:cNvPr id="97" name="Picture 2">
            <a:extLst>
              <a:ext uri="{FF2B5EF4-FFF2-40B4-BE49-F238E27FC236}">
                <a16:creationId xmlns:a16="http://schemas.microsoft.com/office/drawing/2014/main" id="{2FB01CCF-839B-4126-9BF9-132C64D8A1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:p14="http://schemas.microsoft.com/office/powerpoint/2010/main" xmlns:a16="http://schemas.microsoft.com/office/drawing/2014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2BBFBF2C-C4D5-45F2-1BC3-4FF3F214C0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8643" y="618518"/>
            <a:ext cx="6188402" cy="147857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Features</a:t>
            </a:r>
            <a:endParaRPr lang="en-US">
              <a:solidFill>
                <a:srgbClr val="FFFFFF"/>
              </a:solidFill>
            </a:endParaRPr>
          </a:p>
        </p:txBody>
      </p:sp>
      <p:sp useBgFill="1">
        <p:nvSpPr>
          <p:cNvPr id="99" name="Round Diagonal Corner Rectangle 6">
            <a:extLst>
              <a:ext uri="{FF2B5EF4-FFF2-40B4-BE49-F238E27FC236}">
                <a16:creationId xmlns:a16="http://schemas.microsoft.com/office/drawing/2014/main" id="{F2B1468C-8227-4785-8776-7BDBDDF08F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4579" y="808057"/>
            <a:ext cx="3821429" cy="5234394"/>
          </a:xfrm>
          <a:prstGeom prst="round2DiagRect">
            <a:avLst>
              <a:gd name="adj1" fmla="val 11323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Inhaltsplatzhalter 5">
            <a:extLst>
              <a:ext uri="{FF2B5EF4-FFF2-40B4-BE49-F238E27FC236}">
                <a16:creationId xmlns:a16="http://schemas.microsoft.com/office/drawing/2014/main" id="{09D00A46-226E-8955-AF22-293F20D7E61B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1458" y="1137621"/>
            <a:ext cx="2528955" cy="4577297"/>
          </a:xfrm>
          <a:prstGeom prst="rect">
            <a:avLst/>
          </a:prstGeom>
        </p:spPr>
      </p:pic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F497CFD0-2545-4BA7-3B44-B63ACFA7A3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28643" y="2249487"/>
            <a:ext cx="6188402" cy="3541714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170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Gamble Option:</a:t>
            </a:r>
          </a:p>
          <a:p>
            <a:pPr lvl="1">
              <a:lnSpc>
                <a:spcPct val="110000"/>
              </a:lnSpc>
            </a:pPr>
            <a:r>
              <a:rPr lang="en-US" sz="170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Gewinn wird verdoppelt oder man verliert alles</a:t>
            </a:r>
          </a:p>
          <a:p>
            <a:pPr lvl="1">
              <a:lnSpc>
                <a:spcPct val="110000"/>
              </a:lnSpc>
            </a:pPr>
            <a:r>
              <a:rPr lang="en-US" sz="170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Wahrscheinlichkeit 50 %</a:t>
            </a:r>
          </a:p>
          <a:p>
            <a:pPr>
              <a:lnSpc>
                <a:spcPct val="110000"/>
              </a:lnSpc>
            </a:pPr>
            <a:r>
              <a:rPr lang="en-US" sz="170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Autoplay:</a:t>
            </a:r>
          </a:p>
          <a:p>
            <a:pPr lvl="1">
              <a:lnSpc>
                <a:spcPct val="110000"/>
              </a:lnSpc>
            </a:pPr>
            <a:r>
              <a:rPr lang="en-US" sz="170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automatisierte Simulation</a:t>
            </a:r>
          </a:p>
          <a:p>
            <a:pPr>
              <a:lnSpc>
                <a:spcPct val="110000"/>
              </a:lnSpc>
            </a:pPr>
            <a:r>
              <a:rPr lang="en-US" sz="170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Safe vs. Risk Mode:</a:t>
            </a:r>
          </a:p>
          <a:p>
            <a:pPr lvl="1">
              <a:lnSpc>
                <a:spcPct val="110000"/>
              </a:lnSpc>
            </a:pPr>
            <a:r>
              <a:rPr lang="en-US" sz="170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gleicher Erwartungswert</a:t>
            </a:r>
          </a:p>
          <a:p>
            <a:pPr lvl="1">
              <a:lnSpc>
                <a:spcPct val="110000"/>
              </a:lnSpc>
            </a:pPr>
            <a:r>
              <a:rPr lang="en-US" sz="170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unterschiedliche Varianz</a:t>
            </a:r>
          </a:p>
          <a:p>
            <a:pPr>
              <a:lnSpc>
                <a:spcPct val="110000"/>
              </a:lnSpc>
            </a:pPr>
            <a:endParaRPr lang="en-US" sz="17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993218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DD11360-6D09-7C4A-A250-17BA2DC37A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Erwartungswert &amp; Varianz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A97ED98-36E3-6A5D-4BE0-878690ABC10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Wahrscheinlichkeiten der Symbole:</a:t>
            </a:r>
          </a:p>
          <a:p>
            <a:pPr marL="0" indent="0">
              <a:buNone/>
            </a:pPr>
            <a: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A: 30%, B: 25 %, C: 20%, D:15 %, E: 10%</a:t>
            </a:r>
          </a:p>
          <a:p>
            <a:pPr marL="0" indent="0">
              <a:buNone/>
            </a:pPr>
            <a:b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Multiplikator des Einsatzes bei 3 gleichen Symbolen auf einer </a:t>
            </a:r>
            <a:r>
              <a:rPr lang="de-DE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Payline</a:t>
            </a:r>
            <a: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</a:p>
          <a:p>
            <a: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Safe Mode:</a:t>
            </a:r>
          </a:p>
          <a:p>
            <a:pPr lvl="1"/>
            <a: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A: 5, </a:t>
            </a:r>
            <a:r>
              <a:rPr lang="de-DE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B: 15</a:t>
            </a:r>
            <a: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C: 30, D: 60, </a:t>
            </a:r>
            <a:r>
              <a:rPr lang="de-DE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E: 150</a:t>
            </a:r>
          </a:p>
          <a:p>
            <a: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Risk Mode:</a:t>
            </a:r>
          </a:p>
          <a:p>
            <a:pPr lvl="1"/>
            <a: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A: 5, </a:t>
            </a:r>
            <a:r>
              <a:rPr lang="de-DE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B: 7</a:t>
            </a:r>
            <a: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C: 30, D: 60, </a:t>
            </a:r>
            <a:r>
              <a:rPr lang="de-DE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E: 275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Inhaltsplatzhalter 3">
                <a:extLst>
                  <a:ext uri="{FF2B5EF4-FFF2-40B4-BE49-F238E27FC236}">
                    <a16:creationId xmlns:a16="http://schemas.microsoft.com/office/drawing/2014/main" id="{1B11B50C-8D61-F0C0-43DD-C9C8F0DEBCDC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:pPr marL="0" indent="0">
                  <a:buNone/>
                </a:pPr>
                <a:r>
                  <a:rPr lang="de-DE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Erwartungswert </a:t>
                </a:r>
                <a14:m>
                  <m:oMath xmlns:m="http://schemas.openxmlformats.org/officeDocument/2006/math">
                    <m:r>
                      <a:rPr lang="de-DE" b="0" i="0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(</m:t>
                    </m:r>
                    <m:nary>
                      <m:naryPr>
                        <m:chr m:val="∑"/>
                        <m:ctrlPr>
                          <a:rPr lang="de-DE" i="1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de-DE" b="0" i="1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de-DE" b="0" i="1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de-DE" b="0" i="1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  <m:e>
                        <m:r>
                          <a:rPr lang="de-DE" b="0" i="1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de-DE" b="0" i="1" baseline="-25000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de-DE" b="0" i="1" baseline="30000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de-DE" b="0" i="1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de-DE" b="0" i="1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de-DE" b="0" i="1" baseline="-25000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de-DE" b="0" i="1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nary>
                    <m:r>
                      <a:rPr lang="de-DE" b="0" i="1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de-DE" i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:</a:t>
                </a:r>
              </a:p>
              <a:p>
                <a:r>
                  <a:rPr lang="de-DE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Safe Mode = 	0,961875</a:t>
                </a:r>
              </a:p>
              <a:p>
                <a:r>
                  <a:rPr lang="de-DE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Risk Mode = 	0,961875</a:t>
                </a:r>
              </a:p>
              <a:p>
                <a:pPr lvl="1">
                  <a:buFont typeface="Wingdings" panose="05000000000000000000" pitchFamily="2" charset="2"/>
                  <a:buChar char="à"/>
                </a:pPr>
                <a:r>
                  <a:rPr lang="de-DE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sym typeface="Wingdings" panose="05000000000000000000" pitchFamily="2" charset="2"/>
                  </a:rPr>
                  <a:t> Hausvorteil beträgt im Durchschnitt immer  </a:t>
                </a:r>
                <a:br>
                  <a:rPr lang="de-DE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sym typeface="Wingdings" panose="05000000000000000000" pitchFamily="2" charset="2"/>
                  </a:rPr>
                </a:br>
                <a:r>
                  <a:rPr lang="de-DE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sym typeface="Wingdings" panose="05000000000000000000" pitchFamily="2" charset="2"/>
                  </a:rPr>
                  <a:t> 3,8125 %</a:t>
                </a:r>
              </a:p>
              <a:p>
                <a:pPr marL="0" indent="0">
                  <a:buNone/>
                </a:pPr>
                <a:r>
                  <a:rPr lang="de-DE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sym typeface="Wingdings" panose="05000000000000000000" pitchFamily="2" charset="2"/>
                  </a:rPr>
                  <a:t>Varianz </a:t>
                </a:r>
                <a14:m>
                  <m:oMath xmlns:m="http://schemas.openxmlformats.org/officeDocument/2006/math">
                    <m:r>
                      <a:rPr lang="de-DE" b="0" i="0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(</m:t>
                    </m:r>
                    <m:nary>
                      <m:naryPr>
                        <m:chr m:val="∑"/>
                        <m:ctrlPr>
                          <a:rPr lang="de-DE" i="1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de-DE" b="0" i="1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𝑖</m:t>
                        </m:r>
                        <m:r>
                          <a:rPr lang="de-DE" b="0" i="1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=1</m:t>
                        </m:r>
                      </m:sub>
                      <m:sup>
                        <m:r>
                          <a:rPr lang="de-DE" b="0" i="1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5</m:t>
                        </m:r>
                      </m:sup>
                      <m:e>
                        <m:r>
                          <a:rPr lang="de-DE" b="0" i="1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𝑝</m:t>
                        </m:r>
                        <m:r>
                          <a:rPr lang="de-DE" b="0" i="1" baseline="-25000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𝑖</m:t>
                        </m:r>
                        <m:r>
                          <a:rPr lang="de-DE" b="0" i="1" baseline="30000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3</m:t>
                        </m:r>
                        <m:r>
                          <a:rPr lang="de-DE" b="0" i="1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𝑚</m:t>
                        </m:r>
                        <m:r>
                          <a:rPr lang="de-DE" b="0" i="1" baseline="-25000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𝑖</m:t>
                        </m:r>
                        <m:r>
                          <a:rPr lang="de-DE" b="0" i="1" baseline="30000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2</m:t>
                        </m:r>
                        <m:r>
                          <a:rPr lang="de-DE" b="0" i="1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 </m:t>
                        </m:r>
                      </m:e>
                    </m:nary>
                    <m:r>
                      <a:rPr lang="de-DE" b="0" i="1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−</m:t>
                    </m:r>
                    <m:d>
                      <m:dPr>
                        <m:ctrlPr>
                          <a:rPr lang="de-DE" b="0" i="1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nary>
                          <m:naryPr>
                            <m:chr m:val="∑"/>
                            <m:ctrlPr>
                              <a:rPr lang="de-DE" b="0" i="1" smtClean="0"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de-DE" b="0" i="1" smtClean="0"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𝑖</m:t>
                            </m:r>
                            <m:r>
                              <a:rPr lang="de-DE" b="0" i="1" smtClean="0"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=1</m:t>
                            </m:r>
                          </m:sub>
                          <m:sup>
                            <m:r>
                              <a:rPr lang="de-DE" b="0" i="1" smtClean="0"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5</m:t>
                            </m:r>
                          </m:sup>
                          <m:e>
                            <m:r>
                              <a:rPr lang="de-DE" b="0" i="1" smtClean="0"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𝑝</m:t>
                            </m:r>
                            <m:r>
                              <a:rPr lang="de-DE" b="0" i="1" baseline="-25000" smtClean="0"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𝑖</m:t>
                            </m:r>
                            <m:r>
                              <a:rPr lang="de-DE" b="0" i="1" baseline="30000" smtClean="0"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3</m:t>
                            </m:r>
                            <m:r>
                              <a:rPr lang="de-DE" b="0" i="1" smtClean="0"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𝑚</m:t>
                            </m:r>
                            <m:r>
                              <a:rPr lang="de-DE" b="0" i="1" baseline="-25000" smtClean="0"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𝑖</m:t>
                            </m:r>
                            <m:r>
                              <a:rPr lang="de-DE" b="0" i="1" smtClean="0"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 </m:t>
                            </m:r>
                          </m:e>
                        </m:nary>
                      </m:e>
                    </m:d>
                    <m:r>
                      <a:rPr lang="de-DE" b="0" i="1" baseline="30000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2 </m:t>
                    </m:r>
                    <m:r>
                      <a:rPr lang="de-DE" b="0" i="1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)</m:t>
                    </m:r>
                  </m:oMath>
                </a14:m>
                <a:r>
                  <a:rPr lang="de-DE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:</a:t>
                </a:r>
              </a:p>
              <a:p>
                <a:r>
                  <a:rPr lang="de-DE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Safe Mode ≈ 	45,115</a:t>
                </a:r>
              </a:p>
              <a:p>
                <a:r>
                  <a:rPr lang="de-DE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Risk Mode ≈	95,490</a:t>
                </a:r>
              </a:p>
              <a:p>
                <a:pPr marL="457200" lvl="1" indent="0">
                  <a:buNone/>
                </a:pPr>
                <a:r>
                  <a:rPr lang="de-DE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sym typeface="Wingdings" panose="05000000000000000000" pitchFamily="2" charset="2"/>
                  </a:rPr>
                  <a:t> Spielerlebnis verändert sich deutlich</a:t>
                </a:r>
                <a:endParaRPr lang="de-DE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mc:Choice>
        <mc:Fallback xmlns="">
          <p:sp>
            <p:nvSpPr>
              <p:cNvPr id="4" name="Inhaltsplatzhalter 3">
                <a:extLst>
                  <a:ext uri="{FF2B5EF4-FFF2-40B4-BE49-F238E27FC236}">
                    <a16:creationId xmlns:a16="http://schemas.microsoft.com/office/drawing/2014/main" id="{1B11B50C-8D61-F0C0-43DD-C9C8F0DEBCD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2"/>
                <a:stretch>
                  <a:fillRect l="-2003" t="-13425" b="-2582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226716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EA99862-EA19-54D8-EDCE-D85E89AB6E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Umsetzung der Zufallszahlen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3926B72C-19D1-F759-A075-74BD6A74099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Erzeugung von Zufallszahlen:</a:t>
            </a:r>
          </a:p>
          <a:p>
            <a: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Quantenzufall als Bitsequenz</a:t>
            </a:r>
          </a:p>
          <a:p>
            <a: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jeweils 32 Bit → 1 </a:t>
            </a:r>
            <a:r>
              <a:rPr lang="de-DE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Float</a:t>
            </a:r>
            <a: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in [0,1)</a:t>
            </a:r>
          </a:p>
          <a:p>
            <a:pPr marL="0" indent="0">
              <a:buNone/>
            </a:pPr>
            <a: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 Spin:</a:t>
            </a:r>
          </a:p>
          <a:p>
            <a: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9 Zufallszahlen für die Symbolauswahl benötigt</a:t>
            </a:r>
          </a:p>
          <a:p>
            <a: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+1 Zufallszahl falls </a:t>
            </a:r>
            <a:r>
              <a:rPr lang="de-DE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Gamble</a:t>
            </a:r>
            <a: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Mode genutzt wird</a:t>
            </a:r>
          </a:p>
        </p:txBody>
      </p:sp>
      <p:pic>
        <p:nvPicPr>
          <p:cNvPr id="2050" name="Picture 2" descr="TrueRNG V3 – USB Hardware Zufallszahlengenerator">
            <a:extLst>
              <a:ext uri="{FF2B5EF4-FFF2-40B4-BE49-F238E27FC236}">
                <a16:creationId xmlns:a16="http://schemas.microsoft.com/office/drawing/2014/main" id="{77186A1D-8045-41D7-C72D-6461D342C40F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1413" y="2984500"/>
            <a:ext cx="4288717" cy="20338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feld 4">
            <a:extLst>
              <a:ext uri="{FF2B5EF4-FFF2-40B4-BE49-F238E27FC236}">
                <a16:creationId xmlns:a16="http://schemas.microsoft.com/office/drawing/2014/main" id="{3089F769-9B13-4755-E12A-0549E9BAE69B}"/>
              </a:ext>
            </a:extLst>
          </p:cNvPr>
          <p:cNvSpPr txBox="1"/>
          <p:nvPr/>
        </p:nvSpPr>
        <p:spPr>
          <a:xfrm>
            <a:off x="9906000" y="281454"/>
            <a:ext cx="5517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[B2]</a:t>
            </a:r>
          </a:p>
        </p:txBody>
      </p:sp>
    </p:spTree>
    <p:extLst>
      <p:ext uri="{BB962C8B-B14F-4D97-AF65-F5344CB8AC3E}">
        <p14:creationId xmlns:p14="http://schemas.microsoft.com/office/powerpoint/2010/main" val="33350053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EB2732A-A945-9E6A-BBF3-59F73B692D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Experimentdesign</a:t>
            </a:r>
            <a:endParaRPr lang="de-DE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968876D-8C05-23A1-0CF1-BFA50A3395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Direkter Vergleich von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F56CE2AD-9394-0FBC-0B01-581B0713497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62500" lnSpcReduction="20000"/>
          </a:bodyPr>
          <a:lstStyle/>
          <a:p>
            <a: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Zufallsquelle:</a:t>
            </a:r>
          </a:p>
          <a:p>
            <a:pPr lvl="1"/>
            <a: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Pseudozufall mit Seed (12345 – 12394)</a:t>
            </a:r>
          </a:p>
          <a:p>
            <a:pPr lvl="1"/>
            <a: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Vorgenerierte Bitsequenzen mit Quantenzufall</a:t>
            </a:r>
          </a:p>
          <a:p>
            <a:r>
              <a:rPr lang="de-DE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Gamble</a:t>
            </a:r>
            <a: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– Mode:</a:t>
            </a:r>
          </a:p>
          <a:p>
            <a:pPr lvl="1"/>
            <a: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Immer</a:t>
            </a:r>
          </a:p>
          <a:p>
            <a:pPr lvl="1"/>
            <a: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Nie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0DBB767D-DAE5-B651-969F-60CE6607CFB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Startbedingungen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C8E2AEF5-2688-9F56-76A7-3AE1711B4DAC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 fontScale="62500" lnSpcReduction="20000"/>
          </a:bodyPr>
          <a:lstStyle/>
          <a:p>
            <a: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Safe Mode</a:t>
            </a:r>
          </a:p>
          <a:p>
            <a:pPr lvl="1">
              <a:buFont typeface="Wingdings" panose="05000000000000000000" pitchFamily="2" charset="2"/>
              <a:buChar char="à"/>
            </a:pPr>
            <a: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anose="05000000000000000000" pitchFamily="2" charset="2"/>
              </a:rPr>
              <a:t> Geringe Varianz</a:t>
            </a:r>
          </a:p>
          <a:p>
            <a: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Startguthaben: 1000 </a:t>
            </a:r>
            <a:r>
              <a:rPr lang="de-DE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Credits</a:t>
            </a:r>
            <a:endParaRPr lang="de-DE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Maximalanzahl an Spins pro Durchlauf: 7000</a:t>
            </a:r>
          </a:p>
          <a:p>
            <a: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Anzahl an Runs pro Zufallsquelle/</a:t>
            </a:r>
            <a:r>
              <a:rPr lang="de-DE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Gamble</a:t>
            </a:r>
            <a: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Mode: 50</a:t>
            </a:r>
          </a:p>
          <a:p>
            <a: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Einsatz pro </a:t>
            </a:r>
            <a:r>
              <a:rPr lang="de-DE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Payline</a:t>
            </a:r>
            <a: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 1 </a:t>
            </a:r>
            <a:r>
              <a:rPr lang="de-DE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Credit</a:t>
            </a:r>
            <a:endParaRPr lang="de-DE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Anzahl der </a:t>
            </a:r>
            <a:r>
              <a:rPr lang="de-DE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Paylines</a:t>
            </a:r>
            <a: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 5</a:t>
            </a:r>
          </a:p>
          <a:p>
            <a:pPr lvl="1">
              <a:buFont typeface="Wingdings" panose="05000000000000000000" pitchFamily="2" charset="2"/>
              <a:buChar char="à"/>
            </a:pPr>
            <a: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anose="05000000000000000000" pitchFamily="2" charset="2"/>
              </a:rPr>
              <a:t> Direkte Vergleichbarkeit</a:t>
            </a:r>
            <a:endParaRPr lang="de-DE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2759738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7BA7E41-2DC1-D9E2-998F-0E7DEDC7AE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Untersuchte Kennzahlen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1421577-376A-F47B-0825-449BD472AE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08649" y="2249486"/>
            <a:ext cx="3030147" cy="823912"/>
          </a:xfrm>
        </p:spPr>
        <p:txBody>
          <a:bodyPr/>
          <a:lstStyle/>
          <a:p>
            <a: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Run-Level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8CFC42FF-EE6E-8A80-5E79-87C2A134AA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80041" y="3073397"/>
            <a:ext cx="3375358" cy="2717801"/>
          </a:xfrm>
        </p:spPr>
        <p:txBody>
          <a:bodyPr>
            <a:normAutofit fontScale="85000" lnSpcReduction="10000"/>
          </a:bodyPr>
          <a:lstStyle/>
          <a:p>
            <a: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RTP (Verhältnis Gewinn zu Einsatz)</a:t>
            </a:r>
          </a:p>
          <a:p>
            <a: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Endguthaben</a:t>
            </a:r>
          </a:p>
          <a:p>
            <a: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Max. Verlustserie</a:t>
            </a:r>
          </a:p>
          <a:p>
            <a: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Max. Gewinnserie</a:t>
            </a:r>
          </a:p>
          <a:p>
            <a: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Mittlerer Trefferabstand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5C106FDE-3BBD-216A-8D79-5E91E54039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8027097" y="2249485"/>
            <a:ext cx="3177891" cy="823912"/>
          </a:xfrm>
        </p:spPr>
        <p:txBody>
          <a:bodyPr/>
          <a:lstStyle/>
          <a:p>
            <a: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Statistische Tests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9D47C9ED-BD17-5520-495F-F5EA243829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590411" y="3073397"/>
            <a:ext cx="3176440" cy="2717801"/>
          </a:xfrm>
        </p:spPr>
        <p:txBody>
          <a:bodyPr>
            <a:normAutofit fontScale="85000" lnSpcReduction="10000"/>
          </a:bodyPr>
          <a:lstStyle/>
          <a:p>
            <a: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Durchschnittlicher Gewinn</a:t>
            </a:r>
          </a:p>
          <a:p>
            <a: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Varianz</a:t>
            </a:r>
          </a:p>
          <a:p>
            <a: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Autokorrelation</a:t>
            </a:r>
          </a:p>
          <a:p>
            <a: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Run-Test (Wald-Wolfowitz-Test)</a:t>
            </a:r>
          </a:p>
          <a:p>
            <a: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Trefferquote</a:t>
            </a:r>
          </a:p>
          <a:p>
            <a:endParaRPr lang="de-DE" dirty="0"/>
          </a:p>
        </p:txBody>
      </p:sp>
      <p:sp>
        <p:nvSpPr>
          <p:cNvPr id="9" name="Inhaltsplatzhalter 3">
            <a:extLst>
              <a:ext uri="{FF2B5EF4-FFF2-40B4-BE49-F238E27FC236}">
                <a16:creationId xmlns:a16="http://schemas.microsoft.com/office/drawing/2014/main" id="{E545D4EC-4CF3-93C2-5D51-9BA7BF7797F2}"/>
              </a:ext>
            </a:extLst>
          </p:cNvPr>
          <p:cNvSpPr txBox="1">
            <a:spLocks/>
          </p:cNvSpPr>
          <p:nvPr/>
        </p:nvSpPr>
        <p:spPr>
          <a:xfrm>
            <a:off x="7807179" y="3073399"/>
            <a:ext cx="3172937" cy="1799310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T-Test</a:t>
            </a:r>
          </a:p>
          <a:p>
            <a: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Mann-Whitney</a:t>
            </a:r>
          </a:p>
          <a:p>
            <a: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KS-Test</a:t>
            </a:r>
          </a:p>
          <a:p>
            <a: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Effektgröße (</a:t>
            </a:r>
            <a:r>
              <a:rPr lang="de-DE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Cohen‘s</a:t>
            </a:r>
            <a: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d)</a:t>
            </a:r>
          </a:p>
        </p:txBody>
      </p:sp>
      <p:sp>
        <p:nvSpPr>
          <p:cNvPr id="10" name="Textplatzhalter 4">
            <a:extLst>
              <a:ext uri="{FF2B5EF4-FFF2-40B4-BE49-F238E27FC236}">
                <a16:creationId xmlns:a16="http://schemas.microsoft.com/office/drawing/2014/main" id="{11EEF70C-C930-0A8A-0BDA-747CCAEF3AFE}"/>
              </a:ext>
            </a:extLst>
          </p:cNvPr>
          <p:cNvSpPr txBox="1">
            <a:spLocks/>
          </p:cNvSpPr>
          <p:nvPr/>
        </p:nvSpPr>
        <p:spPr>
          <a:xfrm>
            <a:off x="4813832" y="2249485"/>
            <a:ext cx="4646602" cy="82391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defRPr sz="2400" b="0" kern="1200" cap="all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Spin-Level</a:t>
            </a:r>
          </a:p>
        </p:txBody>
      </p:sp>
    </p:spTree>
    <p:extLst>
      <p:ext uri="{BB962C8B-B14F-4D97-AF65-F5344CB8AC3E}">
        <p14:creationId xmlns:p14="http://schemas.microsoft.com/office/powerpoint/2010/main" val="31232363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B2924D8-2E41-C849-7CA9-B0FA18EB40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6697F791-5FFA-4164-899F-EB52EA72B0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Picture 2">
            <a:extLst>
              <a:ext uri="{FF2B5EF4-FFF2-40B4-BE49-F238E27FC236}">
                <a16:creationId xmlns:a16="http://schemas.microsoft.com/office/drawing/2014/main" id="{4E28A1A9-FB81-4816-AAEA-C3B4309469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0" y="-2"/>
            <a:ext cx="4061525" cy="6858001"/>
          </a:xfrm>
          <a:prstGeom prst="rect">
            <a:avLst/>
          </a:prstGeom>
          <a:extLst>
            <a:ext uri="{909E8E84-426E-40dd-AFC4-6F175D3DCCD1}">
              <a14:hiddenFill xmlns="" xmlns:a16="http://schemas.microsoft.com/office/drawing/2014/main" xmlns:p14="http://schemas.microsoft.com/office/powerpoint/2010/main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B773AB25-A422-41AA-9737-5E04C1966D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853"/>
            <a:ext cx="4055621" cy="6858000"/>
          </a:xfrm>
          <a:prstGeom prst="rect">
            <a:avLst/>
          </a:prstGeom>
          <a:ln>
            <a:noFill/>
          </a:ln>
          <a:effectLst>
            <a:outerShdw blurRad="76200" dist="38100" algn="l" rotWithShape="0">
              <a:prstClr val="black">
                <a:alpha val="3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4" name="Picture 2">
            <a:extLst>
              <a:ext uri="{FF2B5EF4-FFF2-40B4-BE49-F238E27FC236}">
                <a16:creationId xmlns:a16="http://schemas.microsoft.com/office/drawing/2014/main" id="{AF0552B8-DE8C-40DF-B29F-1728E6A106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2530" y="23283"/>
            <a:ext cx="4078152" cy="6858001"/>
          </a:xfrm>
          <a:prstGeom prst="rect">
            <a:avLst/>
          </a:prstGeom>
          <a:noFill/>
          <a:extLst>
            <a:ext uri="{909E8E84-426E-40dd-AFC4-6F175D3DCCD1}">
              <a14:hiddenFill xmlns="" xmlns:a16="http://schemas.microsoft.com/office/drawing/2014/main" xmlns:p14="http://schemas.microsoft.com/office/powerpoint/2010/main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47881E48-EF13-EBCC-7F3D-B615A37DE8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5266" y="348024"/>
            <a:ext cx="2851417" cy="1478570"/>
          </a:xfrm>
        </p:spPr>
        <p:txBody>
          <a:bodyPr>
            <a:normAutofit/>
          </a:bodyPr>
          <a:lstStyle/>
          <a:p>
            <a:r>
              <a:rPr lang="de-DE" sz="25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Ergebnisse – RTP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9BB1F375-E0CD-F947-7BAD-FCC1AF6B92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2299" y="1547283"/>
            <a:ext cx="3084765" cy="4576957"/>
          </a:xfrm>
        </p:spPr>
        <p:txBody>
          <a:bodyPr>
            <a:normAutofit lnSpcReduction="10000"/>
          </a:bodyPr>
          <a:lstStyle/>
          <a:p>
            <a:r>
              <a:rPr lang="de-DE" sz="16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Misst das Verhältnis von Auszahlungen zu den Einsätzen</a:t>
            </a:r>
          </a:p>
          <a:p>
            <a:r>
              <a:rPr lang="de-DE" sz="16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Erwartungswert ≈ 0,96 </a:t>
            </a:r>
          </a:p>
          <a:p>
            <a:r>
              <a:rPr lang="de-DE" sz="16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Ergebnis:  </a:t>
            </a:r>
          </a:p>
          <a:p>
            <a:pPr marL="457200" lvl="1" indent="0">
              <a:buNone/>
            </a:pPr>
            <a:r>
              <a:rPr lang="de-DE" sz="14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→ Werte streuen um 0,96  </a:t>
            </a:r>
          </a:p>
          <a:p>
            <a:pPr marL="457200" lvl="1" indent="0">
              <a:buNone/>
            </a:pPr>
            <a:r>
              <a:rPr lang="de-DE" sz="14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→ </a:t>
            </a:r>
            <a:r>
              <a:rPr lang="de-DE" sz="1400" dirty="0" err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Gamble</a:t>
            </a:r>
            <a:r>
              <a:rPr lang="de-DE" sz="14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Mode erhöht die </a:t>
            </a:r>
            <a:br>
              <a:rPr lang="de-DE" sz="14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de-DE" sz="14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Varianz </a:t>
            </a:r>
          </a:p>
          <a:p>
            <a:pPr marL="457200" lvl="1" indent="0">
              <a:buNone/>
            </a:pPr>
            <a:r>
              <a:rPr lang="de-DE" sz="14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→ Kein signifikanter Unterschied </a:t>
            </a:r>
            <a:br>
              <a:rPr lang="de-DE" sz="14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de-DE" sz="14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zwischen Pseudo- und</a:t>
            </a:r>
            <a:br>
              <a:rPr lang="de-DE" sz="14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de-DE" sz="14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Quantenzufall</a:t>
            </a:r>
          </a:p>
          <a:p>
            <a:r>
              <a:rPr lang="de-DE" sz="16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Ausreißer:  </a:t>
            </a:r>
          </a:p>
          <a:p>
            <a:pPr marL="457200" lvl="1" indent="0">
              <a:buNone/>
            </a:pPr>
            <a:r>
              <a:rPr lang="de-DE" sz="14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→ </a:t>
            </a:r>
            <a:r>
              <a:rPr lang="de-DE" sz="1400" dirty="0" err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Gamble</a:t>
            </a:r>
            <a:r>
              <a:rPr lang="de-DE" sz="14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kann aus Gewinnen </a:t>
            </a:r>
            <a:br>
              <a:rPr lang="de-DE" sz="14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de-DE" sz="14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Verluste machen</a:t>
            </a:r>
          </a:p>
          <a:p>
            <a:pPr marL="457200" lvl="1" indent="0">
              <a:buNone/>
            </a:pPr>
            <a:r>
              <a:rPr lang="de-DE" sz="14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→ zufällige Schwankungen  </a:t>
            </a:r>
          </a:p>
          <a:p>
            <a:pPr marL="457200" lvl="1" indent="0">
              <a:buNone/>
            </a:pPr>
            <a:r>
              <a:rPr lang="de-DE" sz="14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→ endliche Anzahl an Spins</a:t>
            </a:r>
            <a:endParaRPr lang="en-US" sz="140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6AD0D387-1584-4477-B5F8-52B50D4F22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20788" cy="6858001"/>
            <a:chOff x="-14288" y="0"/>
            <a:chExt cx="1220788" cy="6858001"/>
          </a:xfrm>
          <a:gradFill flip="none" rotWithShape="1">
            <a:gsLst>
              <a:gs pos="0">
                <a:schemeClr val="bg2"/>
              </a:gs>
              <a:gs pos="100000">
                <a:schemeClr val="tx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27" name="Rectangle 5">
              <a:extLst>
                <a:ext uri="{FF2B5EF4-FFF2-40B4-BE49-F238E27FC236}">
                  <a16:creationId xmlns:a16="http://schemas.microsoft.com/office/drawing/2014/main" id="{22C90122-8CF0-4164-B596-168DE41D39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300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28" name="Freeform 6">
              <a:extLst>
                <a:ext uri="{FF2B5EF4-FFF2-40B4-BE49-F238E27FC236}">
                  <a16:creationId xmlns:a16="http://schemas.microsoft.com/office/drawing/2014/main" id="{E74D534E-37A6-4D27-9C47-0B2F052783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29" name="Freeform 7">
              <a:extLst>
                <a:ext uri="{FF2B5EF4-FFF2-40B4-BE49-F238E27FC236}">
                  <a16:creationId xmlns:a16="http://schemas.microsoft.com/office/drawing/2014/main" id="{1C1C156E-D2E0-468A-9B19-79521D69BF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30" name="Freeform 8">
              <a:extLst>
                <a:ext uri="{FF2B5EF4-FFF2-40B4-BE49-F238E27FC236}">
                  <a16:creationId xmlns:a16="http://schemas.microsoft.com/office/drawing/2014/main" id="{14C97F11-4F6C-4DFF-89BC-3AEA5B7FF7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0025" y="4763"/>
              <a:ext cx="369888" cy="1811338"/>
            </a:xfrm>
            <a:custGeom>
              <a:avLst/>
              <a:gdLst/>
              <a:ahLst/>
              <a:cxnLst/>
              <a:rect l="0" t="0" r="r" b="b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31" name="Freeform 9">
              <a:extLst>
                <a:ext uri="{FF2B5EF4-FFF2-40B4-BE49-F238E27FC236}">
                  <a16:creationId xmlns:a16="http://schemas.microsoft.com/office/drawing/2014/main" id="{773C2106-77CE-42E1-839F-925EAEBB2F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3237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32" name="Freeform 10">
              <a:extLst>
                <a:ext uri="{FF2B5EF4-FFF2-40B4-BE49-F238E27FC236}">
                  <a16:creationId xmlns:a16="http://schemas.microsoft.com/office/drawing/2014/main" id="{E2807D33-BD1F-4B09-8D93-63C06DB3C0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0" y="4763"/>
              <a:ext cx="369888" cy="1430338"/>
            </a:xfrm>
            <a:custGeom>
              <a:avLst/>
              <a:gdLst/>
              <a:ahLst/>
              <a:cxnLst/>
              <a:rect l="0" t="0" r="r" b="b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33" name="Freeform 11">
              <a:extLst>
                <a:ext uri="{FF2B5EF4-FFF2-40B4-BE49-F238E27FC236}">
                  <a16:creationId xmlns:a16="http://schemas.microsoft.com/office/drawing/2014/main" id="{84BDF3E8-157B-47D1-AF8E-FE1EFF0612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6100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34" name="Freeform 12">
              <a:extLst>
                <a:ext uri="{FF2B5EF4-FFF2-40B4-BE49-F238E27FC236}">
                  <a16:creationId xmlns:a16="http://schemas.microsoft.com/office/drawing/2014/main" id="{68B482B5-E0FD-406A-99B2-297DF33354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35" name="Freeform 13">
              <a:extLst>
                <a:ext uri="{FF2B5EF4-FFF2-40B4-BE49-F238E27FC236}">
                  <a16:creationId xmlns:a16="http://schemas.microsoft.com/office/drawing/2014/main" id="{B8750F30-12E8-410B-8709-78F1EF3BBE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36" name="Freeform 14">
              <a:extLst>
                <a:ext uri="{FF2B5EF4-FFF2-40B4-BE49-F238E27FC236}">
                  <a16:creationId xmlns:a16="http://schemas.microsoft.com/office/drawing/2014/main" id="{DB2D030A-4700-4CC4-A971-F119F8372C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1350" y="0"/>
              <a:ext cx="422275" cy="527050"/>
            </a:xfrm>
            <a:custGeom>
              <a:avLst/>
              <a:gdLst/>
              <a:ahLst/>
              <a:cxnLst/>
              <a:rect l="0" t="0" r="r" b="b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37" name="Freeform 15">
              <a:extLst>
                <a:ext uri="{FF2B5EF4-FFF2-40B4-BE49-F238E27FC236}">
                  <a16:creationId xmlns:a16="http://schemas.microsoft.com/office/drawing/2014/main" id="{B4E516DB-F66E-4E88-8CAA-67153F5618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0762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38" name="Line 16">
              <a:extLst>
                <a:ext uri="{FF2B5EF4-FFF2-40B4-BE49-F238E27FC236}">
                  <a16:creationId xmlns:a16="http://schemas.microsoft.com/office/drawing/2014/main" id="{DF749FDD-DD56-4DC9-A379-77E1106981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39" name="Freeform 17">
              <a:extLst>
                <a:ext uri="{FF2B5EF4-FFF2-40B4-BE49-F238E27FC236}">
                  <a16:creationId xmlns:a16="http://schemas.microsoft.com/office/drawing/2014/main" id="{6AD95087-E0AF-45D3-B824-EFFCBBECDE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" y="1801813"/>
              <a:ext cx="123825" cy="127000"/>
            </a:xfrm>
            <a:custGeom>
              <a:avLst/>
              <a:gdLst/>
              <a:ahLst/>
              <a:cxnLst/>
              <a:rect l="0" t="0" r="r" b="b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40" name="Freeform 18">
              <a:extLst>
                <a:ext uri="{FF2B5EF4-FFF2-40B4-BE49-F238E27FC236}">
                  <a16:creationId xmlns:a16="http://schemas.microsoft.com/office/drawing/2014/main" id="{2D21010F-3DE2-4881-B9D5-3415C4E05D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9525" y="3549650"/>
              <a:ext cx="147638" cy="481013"/>
            </a:xfrm>
            <a:custGeom>
              <a:avLst/>
              <a:gdLst/>
              <a:ahLst/>
              <a:cxnLst/>
              <a:rect l="0" t="0" r="r" b="b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41" name="Freeform 19">
              <a:extLst>
                <a:ext uri="{FF2B5EF4-FFF2-40B4-BE49-F238E27FC236}">
                  <a16:creationId xmlns:a16="http://schemas.microsoft.com/office/drawing/2014/main" id="{2AFDF4BC-8E99-4A2C-9EF2-4B98A05C2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8587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42" name="Freeform 20">
              <a:extLst>
                <a:ext uri="{FF2B5EF4-FFF2-40B4-BE49-F238E27FC236}">
                  <a16:creationId xmlns:a16="http://schemas.microsoft.com/office/drawing/2014/main" id="{BB8EAEE8-22EA-4103-A02E-5043474C4B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4787" y="1849438"/>
              <a:ext cx="114300" cy="107950"/>
            </a:xfrm>
            <a:custGeom>
              <a:avLst/>
              <a:gdLst/>
              <a:ahLst/>
              <a:cxnLst/>
              <a:rect l="0" t="0" r="r" b="b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43" name="Rectangle 21">
              <a:extLst>
                <a:ext uri="{FF2B5EF4-FFF2-40B4-BE49-F238E27FC236}">
                  <a16:creationId xmlns:a16="http://schemas.microsoft.com/office/drawing/2014/main" id="{7148ABD2-E447-429F-B97E-86494051C1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3350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44" name="Freeform 22">
              <a:extLst>
                <a:ext uri="{FF2B5EF4-FFF2-40B4-BE49-F238E27FC236}">
                  <a16:creationId xmlns:a16="http://schemas.microsoft.com/office/drawing/2014/main" id="{99900F4A-F8CA-456E-9FA0-34572621C0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23837" y="5041900"/>
              <a:ext cx="369888" cy="1801813"/>
            </a:xfrm>
            <a:custGeom>
              <a:avLst/>
              <a:gdLst/>
              <a:ahLst/>
              <a:cxnLst/>
              <a:rect l="0" t="0" r="r" b="b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45" name="Freeform 23">
              <a:extLst>
                <a:ext uri="{FF2B5EF4-FFF2-40B4-BE49-F238E27FC236}">
                  <a16:creationId xmlns:a16="http://schemas.microsoft.com/office/drawing/2014/main" id="{DF5CD0A9-E49B-4968-886B-41C1A66D23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7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46" name="Freeform 24">
              <a:extLst>
                <a:ext uri="{FF2B5EF4-FFF2-40B4-BE49-F238E27FC236}">
                  <a16:creationId xmlns:a16="http://schemas.microsoft.com/office/drawing/2014/main" id="{7E462582-7383-4272-A323-85C9D137C4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4288" y="5627688"/>
              <a:ext cx="85725" cy="1216025"/>
            </a:xfrm>
            <a:custGeom>
              <a:avLst/>
              <a:gdLst/>
              <a:ahLst/>
              <a:cxnLst/>
              <a:rect l="0" t="0" r="r" b="b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47" name="Freeform 25">
              <a:extLst>
                <a:ext uri="{FF2B5EF4-FFF2-40B4-BE49-F238E27FC236}">
                  <a16:creationId xmlns:a16="http://schemas.microsoft.com/office/drawing/2014/main" id="{CB472F67-7C37-4D80-B346-DE30D44B55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7050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48" name="Freeform 26">
              <a:extLst>
                <a:ext uri="{FF2B5EF4-FFF2-40B4-BE49-F238E27FC236}">
                  <a16:creationId xmlns:a16="http://schemas.microsoft.com/office/drawing/2014/main" id="{19A8AE83-358F-4D4E-91C7-F09E35097A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09562" y="5422900"/>
              <a:ext cx="374650" cy="1425575"/>
            </a:xfrm>
            <a:custGeom>
              <a:avLst/>
              <a:gdLst/>
              <a:ahLst/>
              <a:cxnLst/>
              <a:rect l="0" t="0" r="r" b="b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49" name="Freeform 27">
              <a:extLst>
                <a:ext uri="{FF2B5EF4-FFF2-40B4-BE49-F238E27FC236}">
                  <a16:creationId xmlns:a16="http://schemas.microsoft.com/office/drawing/2014/main" id="{C4B79436-9285-45DE-A9FB-B3DD750738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9912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50" name="Freeform 28">
              <a:extLst>
                <a:ext uri="{FF2B5EF4-FFF2-40B4-BE49-F238E27FC236}">
                  <a16:creationId xmlns:a16="http://schemas.microsoft.com/office/drawing/2014/main" id="{B0BF8BF3-C90A-483A-B61E-13D2C41FBA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51" name="Freeform 29">
              <a:extLst>
                <a:ext uri="{FF2B5EF4-FFF2-40B4-BE49-F238E27FC236}">
                  <a16:creationId xmlns:a16="http://schemas.microsoft.com/office/drawing/2014/main" id="{31011274-F329-444B-9B06-69DD2EC449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52" name="Freeform 30">
              <a:extLst>
                <a:ext uri="{FF2B5EF4-FFF2-40B4-BE49-F238E27FC236}">
                  <a16:creationId xmlns:a16="http://schemas.microsoft.com/office/drawing/2014/main" id="{DB8B1D39-5B9A-4B4E-849B-A5821A2460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9925" y="6330950"/>
              <a:ext cx="417513" cy="517525"/>
            </a:xfrm>
            <a:custGeom>
              <a:avLst/>
              <a:gdLst/>
              <a:ahLst/>
              <a:cxnLst/>
              <a:rect l="0" t="0" r="r" b="b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53" name="Freeform 31">
              <a:extLst>
                <a:ext uri="{FF2B5EF4-FFF2-40B4-BE49-F238E27FC236}">
                  <a16:creationId xmlns:a16="http://schemas.microsoft.com/office/drawing/2014/main" id="{336ECD63-75C2-4A32-A31B-30BB309724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337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</p:grpSp>
      <p:pic>
        <p:nvPicPr>
          <p:cNvPr id="11" name="Grafik 10">
            <a:extLst>
              <a:ext uri="{FF2B5EF4-FFF2-40B4-BE49-F238E27FC236}">
                <a16:creationId xmlns:a16="http://schemas.microsoft.com/office/drawing/2014/main" id="{C4B277F8-8C07-C544-592E-956C9BAF8D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0567" y="1173162"/>
            <a:ext cx="6476158" cy="4385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197849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6697F791-5FFA-4164-899F-EB52EA72B0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2">
            <a:extLst>
              <a:ext uri="{FF2B5EF4-FFF2-40B4-BE49-F238E27FC236}">
                <a16:creationId xmlns:a16="http://schemas.microsoft.com/office/drawing/2014/main" id="{4E28A1A9-FB81-4816-AAEA-C3B4309469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0" y="-2"/>
            <a:ext cx="4061525" cy="6858001"/>
          </a:xfrm>
          <a:prstGeom prst="rect">
            <a:avLst/>
          </a:prstGeom>
          <a:extLst>
            <a:ext uri="{909E8E84-426E-40dd-AFC4-6F175D3DCCD1}">
              <a14:hiddenFill xmlns="" xmlns:a16="http://schemas.microsoft.com/office/drawing/2014/main" xmlns:p14="http://schemas.microsoft.com/office/powerpoint/2010/main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B773AB25-A422-41AA-9737-5E04C1966D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853"/>
            <a:ext cx="4055621" cy="6858000"/>
          </a:xfrm>
          <a:prstGeom prst="rect">
            <a:avLst/>
          </a:prstGeom>
          <a:ln>
            <a:noFill/>
          </a:ln>
          <a:effectLst>
            <a:outerShdw blurRad="76200" dist="38100" algn="l" rotWithShape="0">
              <a:prstClr val="black">
                <a:alpha val="3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2" name="Picture 2">
            <a:extLst>
              <a:ext uri="{FF2B5EF4-FFF2-40B4-BE49-F238E27FC236}">
                <a16:creationId xmlns:a16="http://schemas.microsoft.com/office/drawing/2014/main" id="{AF0552B8-DE8C-40DF-B29F-1728E6A106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2530" y="23283"/>
            <a:ext cx="4078152" cy="6858001"/>
          </a:xfrm>
          <a:prstGeom prst="rect">
            <a:avLst/>
          </a:prstGeom>
          <a:noFill/>
          <a:extLst>
            <a:ext uri="{909E8E84-426E-40dd-AFC4-6F175D3DCCD1}">
              <a14:hiddenFill xmlns="" xmlns:a16="http://schemas.microsoft.com/office/drawing/2014/main" xmlns:p14="http://schemas.microsoft.com/office/powerpoint/2010/main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18A7B6FB-F577-5676-5D2E-091CACB12B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5266" y="618518"/>
            <a:ext cx="2851417" cy="1478570"/>
          </a:xfrm>
        </p:spPr>
        <p:txBody>
          <a:bodyPr>
            <a:normAutofit/>
          </a:bodyPr>
          <a:lstStyle/>
          <a:p>
            <a:r>
              <a:rPr lang="de-DE" sz="32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Ergebnisse – Auto-korrelation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50347817-7EE8-A347-1497-38F6C60F13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4620" y="2249487"/>
            <a:ext cx="2862444" cy="3957302"/>
          </a:xfrm>
        </p:spPr>
        <p:txBody>
          <a:bodyPr>
            <a:normAutofit/>
          </a:bodyPr>
          <a:lstStyle/>
          <a:p>
            <a:r>
              <a:rPr lang="de-DE" sz="16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Misst Abhängigkeit zwischen aufeinanderfolgenden Spins</a:t>
            </a:r>
          </a:p>
          <a:p>
            <a:r>
              <a:rPr lang="de-DE" sz="16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Erwartung bei Zufall ≈ 0 (Unabhängigkeit)</a:t>
            </a:r>
          </a:p>
          <a:p>
            <a:r>
              <a:rPr lang="de-DE" sz="16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Ergebnis:  </a:t>
            </a:r>
          </a:p>
          <a:p>
            <a:pPr marL="457200" lvl="1" indent="0">
              <a:buNone/>
            </a:pPr>
            <a:r>
              <a:rPr lang="de-DE" sz="12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→ Werte streuen um 0  </a:t>
            </a:r>
          </a:p>
          <a:p>
            <a:pPr marL="457200" lvl="1" indent="0">
              <a:buNone/>
            </a:pPr>
            <a:r>
              <a:rPr lang="de-DE" sz="12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→ keine systematische Struktur</a:t>
            </a:r>
          </a:p>
          <a:p>
            <a:r>
              <a:rPr lang="de-DE" sz="16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Ausreißer:  </a:t>
            </a:r>
          </a:p>
          <a:p>
            <a:pPr marL="457200" lvl="1" indent="0">
              <a:buNone/>
            </a:pPr>
            <a:r>
              <a:rPr lang="de-DE" sz="12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→ zufällige Schwankungen  </a:t>
            </a:r>
          </a:p>
          <a:p>
            <a:pPr marL="457200" lvl="1" indent="0">
              <a:buNone/>
            </a:pPr>
            <a:r>
              <a:rPr lang="de-DE" sz="12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→ seltene große Gewinne</a:t>
            </a:r>
            <a:endParaRPr lang="en-US" sz="120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6AD0D387-1584-4477-B5F8-52B50D4F22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20788" cy="6858001"/>
            <a:chOff x="-14288" y="0"/>
            <a:chExt cx="1220788" cy="6858001"/>
          </a:xfrm>
          <a:gradFill flip="none" rotWithShape="1">
            <a:gsLst>
              <a:gs pos="0">
                <a:schemeClr val="bg2"/>
              </a:gs>
              <a:gs pos="100000">
                <a:schemeClr val="tx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25" name="Rectangle 5">
              <a:extLst>
                <a:ext uri="{FF2B5EF4-FFF2-40B4-BE49-F238E27FC236}">
                  <a16:creationId xmlns:a16="http://schemas.microsoft.com/office/drawing/2014/main" id="{22C90122-8CF0-4164-B596-168DE41D39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300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26" name="Freeform 6">
              <a:extLst>
                <a:ext uri="{FF2B5EF4-FFF2-40B4-BE49-F238E27FC236}">
                  <a16:creationId xmlns:a16="http://schemas.microsoft.com/office/drawing/2014/main" id="{E74D534E-37A6-4D27-9C47-0B2F052783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27" name="Freeform 7">
              <a:extLst>
                <a:ext uri="{FF2B5EF4-FFF2-40B4-BE49-F238E27FC236}">
                  <a16:creationId xmlns:a16="http://schemas.microsoft.com/office/drawing/2014/main" id="{1C1C156E-D2E0-468A-9B19-79521D69BF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28" name="Freeform 8">
              <a:extLst>
                <a:ext uri="{FF2B5EF4-FFF2-40B4-BE49-F238E27FC236}">
                  <a16:creationId xmlns:a16="http://schemas.microsoft.com/office/drawing/2014/main" id="{14C97F11-4F6C-4DFF-89BC-3AEA5B7FF7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0025" y="4763"/>
              <a:ext cx="369888" cy="1811338"/>
            </a:xfrm>
            <a:custGeom>
              <a:avLst/>
              <a:gdLst/>
              <a:ahLst/>
              <a:cxnLst/>
              <a:rect l="0" t="0" r="r" b="b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29" name="Freeform 9">
              <a:extLst>
                <a:ext uri="{FF2B5EF4-FFF2-40B4-BE49-F238E27FC236}">
                  <a16:creationId xmlns:a16="http://schemas.microsoft.com/office/drawing/2014/main" id="{773C2106-77CE-42E1-839F-925EAEBB2F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3237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30" name="Freeform 10">
              <a:extLst>
                <a:ext uri="{FF2B5EF4-FFF2-40B4-BE49-F238E27FC236}">
                  <a16:creationId xmlns:a16="http://schemas.microsoft.com/office/drawing/2014/main" id="{E2807D33-BD1F-4B09-8D93-63C06DB3C0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0" y="4763"/>
              <a:ext cx="369888" cy="1430338"/>
            </a:xfrm>
            <a:custGeom>
              <a:avLst/>
              <a:gdLst/>
              <a:ahLst/>
              <a:cxnLst/>
              <a:rect l="0" t="0" r="r" b="b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31" name="Freeform 11">
              <a:extLst>
                <a:ext uri="{FF2B5EF4-FFF2-40B4-BE49-F238E27FC236}">
                  <a16:creationId xmlns:a16="http://schemas.microsoft.com/office/drawing/2014/main" id="{84BDF3E8-157B-47D1-AF8E-FE1EFF0612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6100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32" name="Freeform 12">
              <a:extLst>
                <a:ext uri="{FF2B5EF4-FFF2-40B4-BE49-F238E27FC236}">
                  <a16:creationId xmlns:a16="http://schemas.microsoft.com/office/drawing/2014/main" id="{68B482B5-E0FD-406A-99B2-297DF33354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33" name="Freeform 13">
              <a:extLst>
                <a:ext uri="{FF2B5EF4-FFF2-40B4-BE49-F238E27FC236}">
                  <a16:creationId xmlns:a16="http://schemas.microsoft.com/office/drawing/2014/main" id="{B8750F30-12E8-410B-8709-78F1EF3BBE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34" name="Freeform 14">
              <a:extLst>
                <a:ext uri="{FF2B5EF4-FFF2-40B4-BE49-F238E27FC236}">
                  <a16:creationId xmlns:a16="http://schemas.microsoft.com/office/drawing/2014/main" id="{DB2D030A-4700-4CC4-A971-F119F8372C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1350" y="0"/>
              <a:ext cx="422275" cy="527050"/>
            </a:xfrm>
            <a:custGeom>
              <a:avLst/>
              <a:gdLst/>
              <a:ahLst/>
              <a:cxnLst/>
              <a:rect l="0" t="0" r="r" b="b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35" name="Freeform 15">
              <a:extLst>
                <a:ext uri="{FF2B5EF4-FFF2-40B4-BE49-F238E27FC236}">
                  <a16:creationId xmlns:a16="http://schemas.microsoft.com/office/drawing/2014/main" id="{B4E516DB-F66E-4E88-8CAA-67153F5618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0762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36" name="Line 16">
              <a:extLst>
                <a:ext uri="{FF2B5EF4-FFF2-40B4-BE49-F238E27FC236}">
                  <a16:creationId xmlns:a16="http://schemas.microsoft.com/office/drawing/2014/main" id="{DF749FDD-DD56-4DC9-A379-77E1106981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37" name="Freeform 17">
              <a:extLst>
                <a:ext uri="{FF2B5EF4-FFF2-40B4-BE49-F238E27FC236}">
                  <a16:creationId xmlns:a16="http://schemas.microsoft.com/office/drawing/2014/main" id="{6AD95087-E0AF-45D3-B824-EFFCBBECDE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" y="1801813"/>
              <a:ext cx="123825" cy="127000"/>
            </a:xfrm>
            <a:custGeom>
              <a:avLst/>
              <a:gdLst/>
              <a:ahLst/>
              <a:cxnLst/>
              <a:rect l="0" t="0" r="r" b="b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38" name="Freeform 18">
              <a:extLst>
                <a:ext uri="{FF2B5EF4-FFF2-40B4-BE49-F238E27FC236}">
                  <a16:creationId xmlns:a16="http://schemas.microsoft.com/office/drawing/2014/main" id="{2D21010F-3DE2-4881-B9D5-3415C4E05D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9525" y="3549650"/>
              <a:ext cx="147638" cy="481013"/>
            </a:xfrm>
            <a:custGeom>
              <a:avLst/>
              <a:gdLst/>
              <a:ahLst/>
              <a:cxnLst/>
              <a:rect l="0" t="0" r="r" b="b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39" name="Freeform 19">
              <a:extLst>
                <a:ext uri="{FF2B5EF4-FFF2-40B4-BE49-F238E27FC236}">
                  <a16:creationId xmlns:a16="http://schemas.microsoft.com/office/drawing/2014/main" id="{2AFDF4BC-8E99-4A2C-9EF2-4B98A05C2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8587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40" name="Freeform 20">
              <a:extLst>
                <a:ext uri="{FF2B5EF4-FFF2-40B4-BE49-F238E27FC236}">
                  <a16:creationId xmlns:a16="http://schemas.microsoft.com/office/drawing/2014/main" id="{BB8EAEE8-22EA-4103-A02E-5043474C4B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4787" y="1849438"/>
              <a:ext cx="114300" cy="107950"/>
            </a:xfrm>
            <a:custGeom>
              <a:avLst/>
              <a:gdLst/>
              <a:ahLst/>
              <a:cxnLst/>
              <a:rect l="0" t="0" r="r" b="b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41" name="Rectangle 21">
              <a:extLst>
                <a:ext uri="{FF2B5EF4-FFF2-40B4-BE49-F238E27FC236}">
                  <a16:creationId xmlns:a16="http://schemas.microsoft.com/office/drawing/2014/main" id="{7148ABD2-E447-429F-B97E-86494051C1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3350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42" name="Freeform 22">
              <a:extLst>
                <a:ext uri="{FF2B5EF4-FFF2-40B4-BE49-F238E27FC236}">
                  <a16:creationId xmlns:a16="http://schemas.microsoft.com/office/drawing/2014/main" id="{99900F4A-F8CA-456E-9FA0-34572621C0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23837" y="5041900"/>
              <a:ext cx="369888" cy="1801813"/>
            </a:xfrm>
            <a:custGeom>
              <a:avLst/>
              <a:gdLst/>
              <a:ahLst/>
              <a:cxnLst/>
              <a:rect l="0" t="0" r="r" b="b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43" name="Freeform 23">
              <a:extLst>
                <a:ext uri="{FF2B5EF4-FFF2-40B4-BE49-F238E27FC236}">
                  <a16:creationId xmlns:a16="http://schemas.microsoft.com/office/drawing/2014/main" id="{DF5CD0A9-E49B-4968-886B-41C1A66D23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7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44" name="Freeform 24">
              <a:extLst>
                <a:ext uri="{FF2B5EF4-FFF2-40B4-BE49-F238E27FC236}">
                  <a16:creationId xmlns:a16="http://schemas.microsoft.com/office/drawing/2014/main" id="{7E462582-7383-4272-A323-85C9D137C4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4288" y="5627688"/>
              <a:ext cx="85725" cy="1216025"/>
            </a:xfrm>
            <a:custGeom>
              <a:avLst/>
              <a:gdLst/>
              <a:ahLst/>
              <a:cxnLst/>
              <a:rect l="0" t="0" r="r" b="b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45" name="Freeform 25">
              <a:extLst>
                <a:ext uri="{FF2B5EF4-FFF2-40B4-BE49-F238E27FC236}">
                  <a16:creationId xmlns:a16="http://schemas.microsoft.com/office/drawing/2014/main" id="{CB472F67-7C37-4D80-B346-DE30D44B55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7050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46" name="Freeform 26">
              <a:extLst>
                <a:ext uri="{FF2B5EF4-FFF2-40B4-BE49-F238E27FC236}">
                  <a16:creationId xmlns:a16="http://schemas.microsoft.com/office/drawing/2014/main" id="{19A8AE83-358F-4D4E-91C7-F09E35097A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09562" y="5422900"/>
              <a:ext cx="374650" cy="1425575"/>
            </a:xfrm>
            <a:custGeom>
              <a:avLst/>
              <a:gdLst/>
              <a:ahLst/>
              <a:cxnLst/>
              <a:rect l="0" t="0" r="r" b="b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47" name="Freeform 27">
              <a:extLst>
                <a:ext uri="{FF2B5EF4-FFF2-40B4-BE49-F238E27FC236}">
                  <a16:creationId xmlns:a16="http://schemas.microsoft.com/office/drawing/2014/main" id="{C4B79436-9285-45DE-A9FB-B3DD750738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9912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48" name="Freeform 28">
              <a:extLst>
                <a:ext uri="{FF2B5EF4-FFF2-40B4-BE49-F238E27FC236}">
                  <a16:creationId xmlns:a16="http://schemas.microsoft.com/office/drawing/2014/main" id="{B0BF8BF3-C90A-483A-B61E-13D2C41FBA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49" name="Freeform 29">
              <a:extLst>
                <a:ext uri="{FF2B5EF4-FFF2-40B4-BE49-F238E27FC236}">
                  <a16:creationId xmlns:a16="http://schemas.microsoft.com/office/drawing/2014/main" id="{31011274-F329-444B-9B06-69DD2EC449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50" name="Freeform 30">
              <a:extLst>
                <a:ext uri="{FF2B5EF4-FFF2-40B4-BE49-F238E27FC236}">
                  <a16:creationId xmlns:a16="http://schemas.microsoft.com/office/drawing/2014/main" id="{DB8B1D39-5B9A-4B4E-849B-A5821A2460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9925" y="6330950"/>
              <a:ext cx="417513" cy="517525"/>
            </a:xfrm>
            <a:custGeom>
              <a:avLst/>
              <a:gdLst/>
              <a:ahLst/>
              <a:cxnLst/>
              <a:rect l="0" t="0" r="r" b="b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51" name="Freeform 31">
              <a:extLst>
                <a:ext uri="{FF2B5EF4-FFF2-40B4-BE49-F238E27FC236}">
                  <a16:creationId xmlns:a16="http://schemas.microsoft.com/office/drawing/2014/main" id="{336ECD63-75C2-4A32-A31B-30BB309724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337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</p:grpSp>
      <p:pic>
        <p:nvPicPr>
          <p:cNvPr id="9" name="Inhaltsplatzhalter 8">
            <a:extLst>
              <a:ext uri="{FF2B5EF4-FFF2-40B4-BE49-F238E27FC236}">
                <a16:creationId xmlns:a16="http://schemas.microsoft.com/office/drawing/2014/main" id="{F1DA6B6A-BDA3-BA92-BBAA-616CA08E37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3679" y="764494"/>
            <a:ext cx="7900684" cy="5217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275588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9" name="Rectangle 78">
            <a:extLst>
              <a:ext uri="{FF2B5EF4-FFF2-40B4-BE49-F238E27FC236}">
                <a16:creationId xmlns:a16="http://schemas.microsoft.com/office/drawing/2014/main" id="{54B9C16B-AC4A-44ED-9075-F76549B46E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1" name="Group 80">
            <a:extLst>
              <a:ext uri="{FF2B5EF4-FFF2-40B4-BE49-F238E27FC236}">
                <a16:creationId xmlns:a16="http://schemas.microsoft.com/office/drawing/2014/main" id="{62A2FEB6-F419-4684-9ABC-9E32E012E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100" y="-11384"/>
            <a:ext cx="1220788" cy="6858001"/>
            <a:chOff x="-14288" y="0"/>
            <a:chExt cx="1220788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82" name="Rectangle 5">
              <a:extLst>
                <a:ext uri="{FF2B5EF4-FFF2-40B4-BE49-F238E27FC236}">
                  <a16:creationId xmlns:a16="http://schemas.microsoft.com/office/drawing/2014/main" id="{21E24A15-28D6-4CEB-9268-0BB0BEEAF3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300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83" name="Freeform 6">
              <a:extLst>
                <a:ext uri="{FF2B5EF4-FFF2-40B4-BE49-F238E27FC236}">
                  <a16:creationId xmlns:a16="http://schemas.microsoft.com/office/drawing/2014/main" id="{4345933F-9633-4510-90E1-08B0E2A19E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84" name="Freeform 7">
              <a:extLst>
                <a:ext uri="{FF2B5EF4-FFF2-40B4-BE49-F238E27FC236}">
                  <a16:creationId xmlns:a16="http://schemas.microsoft.com/office/drawing/2014/main" id="{C68A48FB-1BE4-4053-A76F-5A5511BA0E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85" name="Freeform 8">
              <a:extLst>
                <a:ext uri="{FF2B5EF4-FFF2-40B4-BE49-F238E27FC236}">
                  <a16:creationId xmlns:a16="http://schemas.microsoft.com/office/drawing/2014/main" id="{8149777B-6A9F-4C95-BF44-F964645071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0025" y="4763"/>
              <a:ext cx="369888" cy="1811338"/>
            </a:xfrm>
            <a:custGeom>
              <a:avLst/>
              <a:gdLst/>
              <a:ahLst/>
              <a:cxnLst/>
              <a:rect l="0" t="0" r="r" b="b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86" name="Freeform 9">
              <a:extLst>
                <a:ext uri="{FF2B5EF4-FFF2-40B4-BE49-F238E27FC236}">
                  <a16:creationId xmlns:a16="http://schemas.microsoft.com/office/drawing/2014/main" id="{0654845E-622A-4AD3-8F3A-6E1DEAB5FC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3237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87" name="Freeform 10">
              <a:extLst>
                <a:ext uri="{FF2B5EF4-FFF2-40B4-BE49-F238E27FC236}">
                  <a16:creationId xmlns:a16="http://schemas.microsoft.com/office/drawing/2014/main" id="{DF1C0739-3D08-4C83-857E-B0724A6E8C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0" y="4763"/>
              <a:ext cx="369888" cy="1430338"/>
            </a:xfrm>
            <a:custGeom>
              <a:avLst/>
              <a:gdLst/>
              <a:ahLst/>
              <a:cxnLst/>
              <a:rect l="0" t="0" r="r" b="b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88" name="Freeform 11">
              <a:extLst>
                <a:ext uri="{FF2B5EF4-FFF2-40B4-BE49-F238E27FC236}">
                  <a16:creationId xmlns:a16="http://schemas.microsoft.com/office/drawing/2014/main" id="{D235EAA0-7D5A-453A-9643-EE7A4954EA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6100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89" name="Freeform 12">
              <a:extLst>
                <a:ext uri="{FF2B5EF4-FFF2-40B4-BE49-F238E27FC236}">
                  <a16:creationId xmlns:a16="http://schemas.microsoft.com/office/drawing/2014/main" id="{94C6FB7C-72DE-42DE-8F58-CCE9B8F556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90" name="Freeform 13">
              <a:extLst>
                <a:ext uri="{FF2B5EF4-FFF2-40B4-BE49-F238E27FC236}">
                  <a16:creationId xmlns:a16="http://schemas.microsoft.com/office/drawing/2014/main" id="{FE31E0FE-EC8D-4EA7-BD9D-02F8C54FDB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91" name="Freeform 14">
              <a:extLst>
                <a:ext uri="{FF2B5EF4-FFF2-40B4-BE49-F238E27FC236}">
                  <a16:creationId xmlns:a16="http://schemas.microsoft.com/office/drawing/2014/main" id="{69FE4B12-13E0-48F9-9E18-66406B8D3C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1350" y="0"/>
              <a:ext cx="422275" cy="527050"/>
            </a:xfrm>
            <a:custGeom>
              <a:avLst/>
              <a:gdLst/>
              <a:ahLst/>
              <a:cxnLst/>
              <a:rect l="0" t="0" r="r" b="b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92" name="Freeform 15">
              <a:extLst>
                <a:ext uri="{FF2B5EF4-FFF2-40B4-BE49-F238E27FC236}">
                  <a16:creationId xmlns:a16="http://schemas.microsoft.com/office/drawing/2014/main" id="{87FAADC3-B321-43EE-B8F3-2842D84098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0762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93" name="Line 16">
              <a:extLst>
                <a:ext uri="{FF2B5EF4-FFF2-40B4-BE49-F238E27FC236}">
                  <a16:creationId xmlns:a16="http://schemas.microsoft.com/office/drawing/2014/main" id="{90461464-1683-402F-A72B-8558CC6777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94" name="Freeform 17">
              <a:extLst>
                <a:ext uri="{FF2B5EF4-FFF2-40B4-BE49-F238E27FC236}">
                  <a16:creationId xmlns:a16="http://schemas.microsoft.com/office/drawing/2014/main" id="{70F594E7-32D0-45B9-A3CF-636CF6FCBD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" y="1801813"/>
              <a:ext cx="123825" cy="127000"/>
            </a:xfrm>
            <a:custGeom>
              <a:avLst/>
              <a:gdLst/>
              <a:ahLst/>
              <a:cxnLst/>
              <a:rect l="0" t="0" r="r" b="b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95" name="Freeform 18">
              <a:extLst>
                <a:ext uri="{FF2B5EF4-FFF2-40B4-BE49-F238E27FC236}">
                  <a16:creationId xmlns:a16="http://schemas.microsoft.com/office/drawing/2014/main" id="{8AEF60E1-26C2-4E3C-B839-347DDD23C3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9525" y="3549650"/>
              <a:ext cx="147638" cy="481013"/>
            </a:xfrm>
            <a:custGeom>
              <a:avLst/>
              <a:gdLst/>
              <a:ahLst/>
              <a:cxnLst/>
              <a:rect l="0" t="0" r="r" b="b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96" name="Freeform 19">
              <a:extLst>
                <a:ext uri="{FF2B5EF4-FFF2-40B4-BE49-F238E27FC236}">
                  <a16:creationId xmlns:a16="http://schemas.microsoft.com/office/drawing/2014/main" id="{792FE54B-EE9D-4E57-B6BC-6A9196BE89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8587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97" name="Freeform 20">
              <a:extLst>
                <a:ext uri="{FF2B5EF4-FFF2-40B4-BE49-F238E27FC236}">
                  <a16:creationId xmlns:a16="http://schemas.microsoft.com/office/drawing/2014/main" id="{72BE56DF-619D-463E-8F88-CABA09DA88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4787" y="1849438"/>
              <a:ext cx="114300" cy="107950"/>
            </a:xfrm>
            <a:custGeom>
              <a:avLst/>
              <a:gdLst/>
              <a:ahLst/>
              <a:cxnLst/>
              <a:rect l="0" t="0" r="r" b="b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98" name="Rectangle 21">
              <a:extLst>
                <a:ext uri="{FF2B5EF4-FFF2-40B4-BE49-F238E27FC236}">
                  <a16:creationId xmlns:a16="http://schemas.microsoft.com/office/drawing/2014/main" id="{C7430457-1935-4BBF-A6A7-7C3125A02E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3350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99" name="Freeform 22">
              <a:extLst>
                <a:ext uri="{FF2B5EF4-FFF2-40B4-BE49-F238E27FC236}">
                  <a16:creationId xmlns:a16="http://schemas.microsoft.com/office/drawing/2014/main" id="{BB006150-E547-4E84-A2B1-59131F3D53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23837" y="5041900"/>
              <a:ext cx="369888" cy="1801813"/>
            </a:xfrm>
            <a:custGeom>
              <a:avLst/>
              <a:gdLst/>
              <a:ahLst/>
              <a:cxnLst/>
              <a:rect l="0" t="0" r="r" b="b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100" name="Freeform 23">
              <a:extLst>
                <a:ext uri="{FF2B5EF4-FFF2-40B4-BE49-F238E27FC236}">
                  <a16:creationId xmlns:a16="http://schemas.microsoft.com/office/drawing/2014/main" id="{5A8CD074-956B-41A4-870B-001554B69B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7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101" name="Freeform 24">
              <a:extLst>
                <a:ext uri="{FF2B5EF4-FFF2-40B4-BE49-F238E27FC236}">
                  <a16:creationId xmlns:a16="http://schemas.microsoft.com/office/drawing/2014/main" id="{070C253B-974E-459F-AD0B-7057224828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4288" y="5627688"/>
              <a:ext cx="85725" cy="1216025"/>
            </a:xfrm>
            <a:custGeom>
              <a:avLst/>
              <a:gdLst/>
              <a:ahLst/>
              <a:cxnLst/>
              <a:rect l="0" t="0" r="r" b="b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102" name="Freeform 25">
              <a:extLst>
                <a:ext uri="{FF2B5EF4-FFF2-40B4-BE49-F238E27FC236}">
                  <a16:creationId xmlns:a16="http://schemas.microsoft.com/office/drawing/2014/main" id="{BBC07B3D-A631-44EA-861A-7D80383A10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7050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103" name="Freeform 26">
              <a:extLst>
                <a:ext uri="{FF2B5EF4-FFF2-40B4-BE49-F238E27FC236}">
                  <a16:creationId xmlns:a16="http://schemas.microsoft.com/office/drawing/2014/main" id="{32039DC6-B4CF-4A5A-8D17-3A568D125C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09562" y="5422900"/>
              <a:ext cx="374650" cy="1425575"/>
            </a:xfrm>
            <a:custGeom>
              <a:avLst/>
              <a:gdLst/>
              <a:ahLst/>
              <a:cxnLst/>
              <a:rect l="0" t="0" r="r" b="b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104" name="Freeform 27">
              <a:extLst>
                <a:ext uri="{FF2B5EF4-FFF2-40B4-BE49-F238E27FC236}">
                  <a16:creationId xmlns:a16="http://schemas.microsoft.com/office/drawing/2014/main" id="{99E0C81F-5D8D-4AF8-BDE5-4DF75868F7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9912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105" name="Freeform 28">
              <a:extLst>
                <a:ext uri="{FF2B5EF4-FFF2-40B4-BE49-F238E27FC236}">
                  <a16:creationId xmlns:a16="http://schemas.microsoft.com/office/drawing/2014/main" id="{0D946680-855C-41EC-BBA2-61F6F776E5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106" name="Freeform 29">
              <a:extLst>
                <a:ext uri="{FF2B5EF4-FFF2-40B4-BE49-F238E27FC236}">
                  <a16:creationId xmlns:a16="http://schemas.microsoft.com/office/drawing/2014/main" id="{E6FAD9E8-6E13-45A0-A5D6-8BCAD27B40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107" name="Freeform 30">
              <a:extLst>
                <a:ext uri="{FF2B5EF4-FFF2-40B4-BE49-F238E27FC236}">
                  <a16:creationId xmlns:a16="http://schemas.microsoft.com/office/drawing/2014/main" id="{0CCBC8FA-0581-454F-9FD1-6B6102A1AA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9925" y="6330950"/>
              <a:ext cx="417513" cy="517525"/>
            </a:xfrm>
            <a:custGeom>
              <a:avLst/>
              <a:gdLst/>
              <a:ahLst/>
              <a:cxnLst/>
              <a:rect l="0" t="0" r="r" b="b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108" name="Freeform 31">
              <a:extLst>
                <a:ext uri="{FF2B5EF4-FFF2-40B4-BE49-F238E27FC236}">
                  <a16:creationId xmlns:a16="http://schemas.microsoft.com/office/drawing/2014/main" id="{5D6C328F-65A5-41E8-86E9-E4E638CC3B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337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</p:grpSp>
      <p:pic>
        <p:nvPicPr>
          <p:cNvPr id="110" name="Picture 2">
            <a:extLst>
              <a:ext uri="{FF2B5EF4-FFF2-40B4-BE49-F238E27FC236}">
                <a16:creationId xmlns:a16="http://schemas.microsoft.com/office/drawing/2014/main" id="{3E94A106-9341-485C-9057-9D62B2BD08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0" y="-2"/>
            <a:ext cx="4061525" cy="6858001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 xmlns:dgm="http://schemas.openxmlformats.org/drawingml/2006/diagram" xmlns:p14="http://schemas.microsoft.com/office/powerpoint/2010/main" xmlns:a16="http://schemas.microsoft.com/office/drawing/2014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112" name="Rectangle 111">
            <a:extLst>
              <a:ext uri="{FF2B5EF4-FFF2-40B4-BE49-F238E27FC236}">
                <a16:creationId xmlns:a16="http://schemas.microsoft.com/office/drawing/2014/main" id="{B53044DC-4918-43DA-B49D-91673C6C94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853"/>
            <a:ext cx="4055621" cy="6858000"/>
          </a:xfrm>
          <a:prstGeom prst="rect">
            <a:avLst/>
          </a:prstGeom>
          <a:ln>
            <a:noFill/>
          </a:ln>
          <a:effectLst>
            <a:outerShdw blurRad="76200" dist="38100" algn="l" rotWithShape="0">
              <a:prstClr val="black">
                <a:alpha val="3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1DCE6B36-1420-43AB-86CF-4E653A517B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90" y="-9998"/>
            <a:ext cx="1220788" cy="6858001"/>
            <a:chOff x="-14288" y="0"/>
            <a:chExt cx="1220788" cy="6858001"/>
          </a:xfrm>
          <a:gradFill flip="none" rotWithShape="1">
            <a:gsLst>
              <a:gs pos="0">
                <a:schemeClr val="bg2"/>
              </a:gs>
              <a:gs pos="100000">
                <a:schemeClr val="tx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15" name="Rectangle 5">
              <a:extLst>
                <a:ext uri="{FF2B5EF4-FFF2-40B4-BE49-F238E27FC236}">
                  <a16:creationId xmlns:a16="http://schemas.microsoft.com/office/drawing/2014/main" id="{72626E0B-9628-468E-A713-011C02F602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300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116" name="Freeform 6">
              <a:extLst>
                <a:ext uri="{FF2B5EF4-FFF2-40B4-BE49-F238E27FC236}">
                  <a16:creationId xmlns:a16="http://schemas.microsoft.com/office/drawing/2014/main" id="{93F7977A-BD91-4B0D-9A8D-372DB67AD8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117" name="Freeform 7">
              <a:extLst>
                <a:ext uri="{FF2B5EF4-FFF2-40B4-BE49-F238E27FC236}">
                  <a16:creationId xmlns:a16="http://schemas.microsoft.com/office/drawing/2014/main" id="{9FEE6A56-01A1-404D-864E-1C2587C9AF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118" name="Freeform 8">
              <a:extLst>
                <a:ext uri="{FF2B5EF4-FFF2-40B4-BE49-F238E27FC236}">
                  <a16:creationId xmlns:a16="http://schemas.microsoft.com/office/drawing/2014/main" id="{E74DBBF2-EF6F-4E3E-B183-F8EEE76094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0025" y="4763"/>
              <a:ext cx="369888" cy="1811338"/>
            </a:xfrm>
            <a:custGeom>
              <a:avLst/>
              <a:gdLst/>
              <a:ahLst/>
              <a:cxnLst/>
              <a:rect l="0" t="0" r="r" b="b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119" name="Freeform 9">
              <a:extLst>
                <a:ext uri="{FF2B5EF4-FFF2-40B4-BE49-F238E27FC236}">
                  <a16:creationId xmlns:a16="http://schemas.microsoft.com/office/drawing/2014/main" id="{ABCF0F27-B056-474C-A0FB-1DB747A92F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3237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120" name="Freeform 10">
              <a:extLst>
                <a:ext uri="{FF2B5EF4-FFF2-40B4-BE49-F238E27FC236}">
                  <a16:creationId xmlns:a16="http://schemas.microsoft.com/office/drawing/2014/main" id="{0A0A5B7B-BA2A-45CC-AABE-9D5B08A5DB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0" y="4763"/>
              <a:ext cx="369888" cy="1430338"/>
            </a:xfrm>
            <a:custGeom>
              <a:avLst/>
              <a:gdLst/>
              <a:ahLst/>
              <a:cxnLst/>
              <a:rect l="0" t="0" r="r" b="b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121" name="Freeform 11">
              <a:extLst>
                <a:ext uri="{FF2B5EF4-FFF2-40B4-BE49-F238E27FC236}">
                  <a16:creationId xmlns:a16="http://schemas.microsoft.com/office/drawing/2014/main" id="{3C9A5D2B-1787-4954-9108-B9D497A87C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6100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122" name="Freeform 12">
              <a:extLst>
                <a:ext uri="{FF2B5EF4-FFF2-40B4-BE49-F238E27FC236}">
                  <a16:creationId xmlns:a16="http://schemas.microsoft.com/office/drawing/2014/main" id="{818C4F8B-7556-49A7-83C6-C8F631F6A9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123" name="Freeform 13">
              <a:extLst>
                <a:ext uri="{FF2B5EF4-FFF2-40B4-BE49-F238E27FC236}">
                  <a16:creationId xmlns:a16="http://schemas.microsoft.com/office/drawing/2014/main" id="{22BED614-D078-47EA-9C72-190217FDD5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124" name="Freeform 14">
              <a:extLst>
                <a:ext uri="{FF2B5EF4-FFF2-40B4-BE49-F238E27FC236}">
                  <a16:creationId xmlns:a16="http://schemas.microsoft.com/office/drawing/2014/main" id="{73DE0BF2-86D7-4038-AC4B-AF0F116A58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1350" y="0"/>
              <a:ext cx="422275" cy="527050"/>
            </a:xfrm>
            <a:custGeom>
              <a:avLst/>
              <a:gdLst/>
              <a:ahLst/>
              <a:cxnLst/>
              <a:rect l="0" t="0" r="r" b="b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125" name="Freeform 15">
              <a:extLst>
                <a:ext uri="{FF2B5EF4-FFF2-40B4-BE49-F238E27FC236}">
                  <a16:creationId xmlns:a16="http://schemas.microsoft.com/office/drawing/2014/main" id="{11D8BB55-D027-420C-9EF9-49B3BA79DC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0762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126" name="Line 16">
              <a:extLst>
                <a:ext uri="{FF2B5EF4-FFF2-40B4-BE49-F238E27FC236}">
                  <a16:creationId xmlns:a16="http://schemas.microsoft.com/office/drawing/2014/main" id="{3FAEF5CE-07ED-46A7-9777-D86C707195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27" name="Freeform 17">
              <a:extLst>
                <a:ext uri="{FF2B5EF4-FFF2-40B4-BE49-F238E27FC236}">
                  <a16:creationId xmlns:a16="http://schemas.microsoft.com/office/drawing/2014/main" id="{29CAFB1A-357C-4313-B734-1CD4E4F9D2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" y="1801813"/>
              <a:ext cx="123825" cy="127000"/>
            </a:xfrm>
            <a:custGeom>
              <a:avLst/>
              <a:gdLst/>
              <a:ahLst/>
              <a:cxnLst/>
              <a:rect l="0" t="0" r="r" b="b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128" name="Freeform 18">
              <a:extLst>
                <a:ext uri="{FF2B5EF4-FFF2-40B4-BE49-F238E27FC236}">
                  <a16:creationId xmlns:a16="http://schemas.microsoft.com/office/drawing/2014/main" id="{653161D3-8634-4BB7-A2BC-028C4EAA15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9525" y="3549650"/>
              <a:ext cx="147638" cy="481013"/>
            </a:xfrm>
            <a:custGeom>
              <a:avLst/>
              <a:gdLst/>
              <a:ahLst/>
              <a:cxnLst/>
              <a:rect l="0" t="0" r="r" b="b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129" name="Freeform 19">
              <a:extLst>
                <a:ext uri="{FF2B5EF4-FFF2-40B4-BE49-F238E27FC236}">
                  <a16:creationId xmlns:a16="http://schemas.microsoft.com/office/drawing/2014/main" id="{9537546A-6FF1-408B-AFE2-BBF7D34823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8587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130" name="Freeform 20">
              <a:extLst>
                <a:ext uri="{FF2B5EF4-FFF2-40B4-BE49-F238E27FC236}">
                  <a16:creationId xmlns:a16="http://schemas.microsoft.com/office/drawing/2014/main" id="{F73EE662-79B7-404B-B1B8-0E096BE4CD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4787" y="1849438"/>
              <a:ext cx="114300" cy="107950"/>
            </a:xfrm>
            <a:custGeom>
              <a:avLst/>
              <a:gdLst/>
              <a:ahLst/>
              <a:cxnLst/>
              <a:rect l="0" t="0" r="r" b="b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131" name="Rectangle 21">
              <a:extLst>
                <a:ext uri="{FF2B5EF4-FFF2-40B4-BE49-F238E27FC236}">
                  <a16:creationId xmlns:a16="http://schemas.microsoft.com/office/drawing/2014/main" id="{B6DDB906-1F52-4D64-8493-4816EDDD34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3350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132" name="Freeform 22">
              <a:extLst>
                <a:ext uri="{FF2B5EF4-FFF2-40B4-BE49-F238E27FC236}">
                  <a16:creationId xmlns:a16="http://schemas.microsoft.com/office/drawing/2014/main" id="{4FA472A5-ABEA-4961-897B-7EB96AF09A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23837" y="5041900"/>
              <a:ext cx="369888" cy="1801813"/>
            </a:xfrm>
            <a:custGeom>
              <a:avLst/>
              <a:gdLst/>
              <a:ahLst/>
              <a:cxnLst/>
              <a:rect l="0" t="0" r="r" b="b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133" name="Freeform 23">
              <a:extLst>
                <a:ext uri="{FF2B5EF4-FFF2-40B4-BE49-F238E27FC236}">
                  <a16:creationId xmlns:a16="http://schemas.microsoft.com/office/drawing/2014/main" id="{54226E99-C38F-4456-A1F8-8897483FD9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7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134" name="Freeform 24">
              <a:extLst>
                <a:ext uri="{FF2B5EF4-FFF2-40B4-BE49-F238E27FC236}">
                  <a16:creationId xmlns:a16="http://schemas.microsoft.com/office/drawing/2014/main" id="{0A4A0196-A383-4629-B9A5-9C87E846C1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4288" y="5627688"/>
              <a:ext cx="85725" cy="1216025"/>
            </a:xfrm>
            <a:custGeom>
              <a:avLst/>
              <a:gdLst/>
              <a:ahLst/>
              <a:cxnLst/>
              <a:rect l="0" t="0" r="r" b="b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135" name="Freeform 25">
              <a:extLst>
                <a:ext uri="{FF2B5EF4-FFF2-40B4-BE49-F238E27FC236}">
                  <a16:creationId xmlns:a16="http://schemas.microsoft.com/office/drawing/2014/main" id="{BA5E608D-2E7B-4662-A9A0-18D4E0F0DC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7050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136" name="Freeform 26">
              <a:extLst>
                <a:ext uri="{FF2B5EF4-FFF2-40B4-BE49-F238E27FC236}">
                  <a16:creationId xmlns:a16="http://schemas.microsoft.com/office/drawing/2014/main" id="{5E211F37-790F-4BD7-B055-022AE0C2E6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09562" y="5422900"/>
              <a:ext cx="374650" cy="1425575"/>
            </a:xfrm>
            <a:custGeom>
              <a:avLst/>
              <a:gdLst/>
              <a:ahLst/>
              <a:cxnLst/>
              <a:rect l="0" t="0" r="r" b="b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137" name="Freeform 27">
              <a:extLst>
                <a:ext uri="{FF2B5EF4-FFF2-40B4-BE49-F238E27FC236}">
                  <a16:creationId xmlns:a16="http://schemas.microsoft.com/office/drawing/2014/main" id="{96F375D0-232A-490A-9499-CB5FBA3FD9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9912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138" name="Freeform 28">
              <a:extLst>
                <a:ext uri="{FF2B5EF4-FFF2-40B4-BE49-F238E27FC236}">
                  <a16:creationId xmlns:a16="http://schemas.microsoft.com/office/drawing/2014/main" id="{6B33B423-FD0F-4780-A0D6-32FC040B37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139" name="Freeform 29">
              <a:extLst>
                <a:ext uri="{FF2B5EF4-FFF2-40B4-BE49-F238E27FC236}">
                  <a16:creationId xmlns:a16="http://schemas.microsoft.com/office/drawing/2014/main" id="{B6BD1710-838F-4CDD-A000-C6C710A6A0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140" name="Freeform 30">
              <a:extLst>
                <a:ext uri="{FF2B5EF4-FFF2-40B4-BE49-F238E27FC236}">
                  <a16:creationId xmlns:a16="http://schemas.microsoft.com/office/drawing/2014/main" id="{0BB93533-1C95-4B0A-B0E2-168602B085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9925" y="6330950"/>
              <a:ext cx="417513" cy="517525"/>
            </a:xfrm>
            <a:custGeom>
              <a:avLst/>
              <a:gdLst/>
              <a:ahLst/>
              <a:cxnLst/>
              <a:rect l="0" t="0" r="r" b="b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141" name="Freeform 31">
              <a:extLst>
                <a:ext uri="{FF2B5EF4-FFF2-40B4-BE49-F238E27FC236}">
                  <a16:creationId xmlns:a16="http://schemas.microsoft.com/office/drawing/2014/main" id="{CB0B113D-1987-4D89-A475-511E092FE1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337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</p:grpSp>
      <p:pic>
        <p:nvPicPr>
          <p:cNvPr id="143" name="Picture 2">
            <a:extLst>
              <a:ext uri="{FF2B5EF4-FFF2-40B4-BE49-F238E27FC236}">
                <a16:creationId xmlns:a16="http://schemas.microsoft.com/office/drawing/2014/main" id="{9BE36DBF-0333-4D36-A5BF-81FDA2406F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0" y="-13238"/>
            <a:ext cx="4062718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:dgm="http://schemas.openxmlformats.org/drawingml/2006/diagram" xmlns:p14="http://schemas.microsoft.com/office/powerpoint/2010/main" xmlns:a16="http://schemas.microsoft.com/office/drawing/2014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5F59E3DE-5DB9-6A22-CAF9-599643FFE6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3330" y="1134681"/>
            <a:ext cx="2743310" cy="4255025"/>
          </a:xfrm>
        </p:spPr>
        <p:txBody>
          <a:bodyPr>
            <a:normAutofit/>
          </a:bodyPr>
          <a:lstStyle/>
          <a:p>
            <a:r>
              <a:rPr lang="de-DE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Weitere Metriken</a:t>
            </a:r>
          </a:p>
        </p:txBody>
      </p:sp>
      <p:graphicFrame>
        <p:nvGraphicFramePr>
          <p:cNvPr id="42" name="Inhaltsplatzhalter 41">
            <a:extLst>
              <a:ext uri="{FF2B5EF4-FFF2-40B4-BE49-F238E27FC236}">
                <a16:creationId xmlns:a16="http://schemas.microsoft.com/office/drawing/2014/main" id="{D8909832-2392-6885-1521-C0BEAAC160C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42321724"/>
              </p:ext>
            </p:extLst>
          </p:nvPr>
        </p:nvGraphicFramePr>
        <p:xfrm>
          <a:off x="4298904" y="1289050"/>
          <a:ext cx="7765842" cy="4268246"/>
        </p:xfrm>
        <a:graphic>
          <a:graphicData uri="http://schemas.openxmlformats.org/drawingml/2006/table">
            <a:tbl>
              <a:tblPr firstRow="1" bandRow="1"/>
              <a:tblGrid>
                <a:gridCol w="2210404">
                  <a:extLst>
                    <a:ext uri="{9D8B030D-6E8A-4147-A177-3AD203B41FA5}">
                      <a16:colId xmlns:a16="http://schemas.microsoft.com/office/drawing/2014/main" val="981429345"/>
                    </a:ext>
                  </a:extLst>
                </a:gridCol>
                <a:gridCol w="841274">
                  <a:extLst>
                    <a:ext uri="{9D8B030D-6E8A-4147-A177-3AD203B41FA5}">
                      <a16:colId xmlns:a16="http://schemas.microsoft.com/office/drawing/2014/main" val="1762322637"/>
                    </a:ext>
                  </a:extLst>
                </a:gridCol>
                <a:gridCol w="820478">
                  <a:extLst>
                    <a:ext uri="{9D8B030D-6E8A-4147-A177-3AD203B41FA5}">
                      <a16:colId xmlns:a16="http://schemas.microsoft.com/office/drawing/2014/main" val="1514069739"/>
                    </a:ext>
                  </a:extLst>
                </a:gridCol>
                <a:gridCol w="967788">
                  <a:extLst>
                    <a:ext uri="{9D8B030D-6E8A-4147-A177-3AD203B41FA5}">
                      <a16:colId xmlns:a16="http://schemas.microsoft.com/office/drawing/2014/main" val="3288612179"/>
                    </a:ext>
                  </a:extLst>
                </a:gridCol>
                <a:gridCol w="1102969">
                  <a:extLst>
                    <a:ext uri="{9D8B030D-6E8A-4147-A177-3AD203B41FA5}">
                      <a16:colId xmlns:a16="http://schemas.microsoft.com/office/drawing/2014/main" val="3711079657"/>
                    </a:ext>
                  </a:extLst>
                </a:gridCol>
                <a:gridCol w="955659">
                  <a:extLst>
                    <a:ext uri="{9D8B030D-6E8A-4147-A177-3AD203B41FA5}">
                      <a16:colId xmlns:a16="http://schemas.microsoft.com/office/drawing/2014/main" val="3379847897"/>
                    </a:ext>
                  </a:extLst>
                </a:gridCol>
                <a:gridCol w="867270">
                  <a:extLst>
                    <a:ext uri="{9D8B030D-6E8A-4147-A177-3AD203B41FA5}">
                      <a16:colId xmlns:a16="http://schemas.microsoft.com/office/drawing/2014/main" val="4246108390"/>
                    </a:ext>
                  </a:extLst>
                </a:gridCol>
              </a:tblGrid>
              <a:tr h="28150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e-DE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Quelle / </a:t>
                      </a:r>
                      <a:r>
                        <a:rPr lang="de-DE" sz="8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Gamble</a:t>
                      </a:r>
                      <a:r>
                        <a:rPr lang="de-DE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Mode </a:t>
                      </a:r>
                    </a:p>
                  </a:txBody>
                  <a:tcPr marL="4670" marR="4670" marT="4670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e-DE" sz="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Run-Test (p-</a:t>
                      </a:r>
                      <a:r>
                        <a:rPr lang="de-DE" sz="8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value</a:t>
                      </a:r>
                      <a:r>
                        <a:rPr lang="de-DE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, Wald-Wolfowitz)</a:t>
                      </a:r>
                    </a:p>
                  </a:txBody>
                  <a:tcPr marL="4670" marR="4670" marT="467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9ED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e-DE" sz="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Trefferquote (Spins)</a:t>
                      </a:r>
                    </a:p>
                  </a:txBody>
                  <a:tcPr marL="4670" marR="4670" marT="467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EE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e-DE" sz="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Varianz (Spins)</a:t>
                      </a:r>
                    </a:p>
                  </a:txBody>
                  <a:tcPr marL="4670" marR="4670" marT="467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EE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e-DE" sz="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Max. Verlustserie (Run) </a:t>
                      </a:r>
                    </a:p>
                  </a:txBody>
                  <a:tcPr marL="4670" marR="4670" marT="467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EE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e-DE" sz="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Mittlerer Trefferabstand (Run)</a:t>
                      </a:r>
                    </a:p>
                  </a:txBody>
                  <a:tcPr marL="4670" marR="4670" marT="467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EE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e-DE" sz="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Endguthaben (Run)</a:t>
                      </a:r>
                    </a:p>
                  </a:txBody>
                  <a:tcPr marL="4670" marR="4670" marT="467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9E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5171230"/>
                  </a:ext>
                </a:extLst>
              </a:tr>
              <a:tr h="21941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e-DE" sz="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Pseudo / Never</a:t>
                      </a:r>
                    </a:p>
                  </a:txBody>
                  <a:tcPr marL="4670" marR="4670" marT="4670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de-DE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0,5086</a:t>
                      </a:r>
                    </a:p>
                  </a:txBody>
                  <a:tcPr marL="4670" marR="4670" marT="467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0,239898</a:t>
                      </a:r>
                    </a:p>
                  </a:txBody>
                  <a:tcPr marL="4670" marR="4670" marT="467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202,293</a:t>
                      </a:r>
                    </a:p>
                  </a:txBody>
                  <a:tcPr marL="4670" marR="4670" marT="467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25,88</a:t>
                      </a:r>
                    </a:p>
                  </a:txBody>
                  <a:tcPr marL="4670" marR="4670" marT="467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4,1620</a:t>
                      </a:r>
                    </a:p>
                  </a:txBody>
                  <a:tcPr marL="4670" marR="4670" marT="467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233,8</a:t>
                      </a:r>
                    </a:p>
                  </a:txBody>
                  <a:tcPr marL="4670" marR="4670" marT="467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7283530"/>
                  </a:ext>
                </a:extLst>
              </a:tr>
              <a:tr h="21941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e-DE" sz="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Quantum / Never</a:t>
                      </a:r>
                    </a:p>
                  </a:txBody>
                  <a:tcPr marL="4670" marR="4670" marT="4670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0,4117</a:t>
                      </a:r>
                    </a:p>
                  </a:txBody>
                  <a:tcPr marL="4670" marR="4670" marT="467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de-DE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0,238412</a:t>
                      </a:r>
                    </a:p>
                  </a:txBody>
                  <a:tcPr marL="4670" marR="4670" marT="467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203,224</a:t>
                      </a:r>
                    </a:p>
                  </a:txBody>
                  <a:tcPr marL="4670" marR="4670" marT="467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26,14</a:t>
                      </a:r>
                    </a:p>
                  </a:txBody>
                  <a:tcPr marL="4670" marR="4670" marT="467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4,1948</a:t>
                      </a:r>
                    </a:p>
                  </a:txBody>
                  <a:tcPr marL="4670" marR="4670" marT="467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389,2</a:t>
                      </a:r>
                    </a:p>
                  </a:txBody>
                  <a:tcPr marL="4670" marR="4670" marT="467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49E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657664"/>
                  </a:ext>
                </a:extLst>
              </a:tr>
              <a:tr h="21941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e-DE" sz="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Pseudo / Always</a:t>
                      </a:r>
                    </a:p>
                  </a:txBody>
                  <a:tcPr marL="4670" marR="4670" marT="4670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0,5177</a:t>
                      </a:r>
                    </a:p>
                  </a:txBody>
                  <a:tcPr marL="4670" marR="4670" marT="467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0,118897</a:t>
                      </a:r>
                    </a:p>
                  </a:txBody>
                  <a:tcPr marL="4670" marR="4670" marT="467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430,825</a:t>
                      </a:r>
                    </a:p>
                  </a:txBody>
                  <a:tcPr marL="4670" marR="4670" marT="467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50,14</a:t>
                      </a:r>
                    </a:p>
                  </a:txBody>
                  <a:tcPr marL="4670" marR="4670" marT="467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8,3945</a:t>
                      </a:r>
                    </a:p>
                  </a:txBody>
                  <a:tcPr marL="4670" marR="4670" marT="467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425,4</a:t>
                      </a:r>
                    </a:p>
                  </a:txBody>
                  <a:tcPr marL="4670" marR="4670" marT="467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88832414"/>
                  </a:ext>
                </a:extLst>
              </a:tr>
              <a:tr h="21941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e-DE" sz="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Quantum / Always</a:t>
                      </a:r>
                    </a:p>
                  </a:txBody>
                  <a:tcPr marL="4670" marR="4670" marT="4670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0,5268</a:t>
                      </a:r>
                    </a:p>
                  </a:txBody>
                  <a:tcPr marL="4670" marR="4670" marT="467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0,117299</a:t>
                      </a:r>
                    </a:p>
                  </a:txBody>
                  <a:tcPr marL="4670" marR="4670" marT="467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de-DE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433,600</a:t>
                      </a:r>
                    </a:p>
                  </a:txBody>
                  <a:tcPr marL="4670" marR="4670" marT="467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48,86</a:t>
                      </a:r>
                    </a:p>
                  </a:txBody>
                  <a:tcPr marL="4670" marR="4670" marT="467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8,5026</a:t>
                      </a:r>
                    </a:p>
                  </a:txBody>
                  <a:tcPr marL="4670" marR="4670" marT="467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585,0</a:t>
                      </a:r>
                    </a:p>
                  </a:txBody>
                  <a:tcPr marL="4670" marR="4670" marT="467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9E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2667304"/>
                  </a:ext>
                </a:extLst>
              </a:tr>
              <a:tr h="21941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e-DE" sz="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Abweichung Quellen / Always [%]</a:t>
                      </a:r>
                    </a:p>
                  </a:txBody>
                  <a:tcPr marL="4670" marR="4670" marT="4670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1,7578</a:t>
                      </a:r>
                    </a:p>
                  </a:txBody>
                  <a:tcPr marL="4670" marR="4670" marT="467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1,3440</a:t>
                      </a:r>
                    </a:p>
                  </a:txBody>
                  <a:tcPr marL="4670" marR="4670" marT="467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0,6441</a:t>
                      </a:r>
                    </a:p>
                  </a:txBody>
                  <a:tcPr marL="4670" marR="4670" marT="467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2,5529</a:t>
                      </a:r>
                    </a:p>
                  </a:txBody>
                  <a:tcPr marL="4670" marR="4670" marT="467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1,2877</a:t>
                      </a:r>
                    </a:p>
                  </a:txBody>
                  <a:tcPr marL="4670" marR="4670" marT="467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37,5176</a:t>
                      </a:r>
                    </a:p>
                  </a:txBody>
                  <a:tcPr marL="4670" marR="4670" marT="467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9009228"/>
                  </a:ext>
                </a:extLst>
              </a:tr>
              <a:tr h="21941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e-DE" sz="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Abweichung Quellen / Never [%]</a:t>
                      </a:r>
                    </a:p>
                  </a:txBody>
                  <a:tcPr marL="4670" marR="4670" marT="4670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19,0523</a:t>
                      </a:r>
                    </a:p>
                  </a:txBody>
                  <a:tcPr marL="4670" marR="4670" marT="467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49ED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de-DE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0,6194</a:t>
                      </a:r>
                    </a:p>
                  </a:txBody>
                  <a:tcPr marL="4670" marR="4670" marT="467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0,4602</a:t>
                      </a:r>
                    </a:p>
                  </a:txBody>
                  <a:tcPr marL="4670" marR="4670" marT="467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de-DE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1,0046</a:t>
                      </a:r>
                    </a:p>
                  </a:txBody>
                  <a:tcPr marL="4670" marR="4670" marT="467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0,7881</a:t>
                      </a:r>
                    </a:p>
                  </a:txBody>
                  <a:tcPr marL="4670" marR="4670" marT="467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66,4671</a:t>
                      </a:r>
                    </a:p>
                  </a:txBody>
                  <a:tcPr marL="4670" marR="4670" marT="467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6614527"/>
                  </a:ext>
                </a:extLst>
              </a:tr>
              <a:tr h="21614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e-DE" sz="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Pseudo / Abweichung Gamble Modes [%]</a:t>
                      </a:r>
                    </a:p>
                  </a:txBody>
                  <a:tcPr marL="4670" marR="4670" marT="4670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1,7892</a:t>
                      </a:r>
                    </a:p>
                  </a:txBody>
                  <a:tcPr marL="4670" marR="4670" marT="467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de-DE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50,4385</a:t>
                      </a:r>
                    </a:p>
                  </a:txBody>
                  <a:tcPr marL="4670" marR="4670" marT="467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CEE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112,9708</a:t>
                      </a:r>
                    </a:p>
                  </a:txBody>
                  <a:tcPr marL="4670" marR="4670" marT="467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CEE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93,7403</a:t>
                      </a:r>
                    </a:p>
                  </a:txBody>
                  <a:tcPr marL="4670" marR="4670" marT="467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CEE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101,6939</a:t>
                      </a:r>
                    </a:p>
                  </a:txBody>
                  <a:tcPr marL="4670" marR="4670" marT="467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CEE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81,9504</a:t>
                      </a:r>
                    </a:p>
                  </a:txBody>
                  <a:tcPr marL="4670" marR="4670" marT="467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71151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e-DE" sz="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Quantum / Abweichung Gamble Modes [%]</a:t>
                      </a:r>
                    </a:p>
                  </a:txBody>
                  <a:tcPr marL="4670" marR="4670" marT="4670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27,9573</a:t>
                      </a:r>
                    </a:p>
                  </a:txBody>
                  <a:tcPr marL="4670" marR="4670" marT="467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9ED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de-DE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50,7999</a:t>
                      </a:r>
                    </a:p>
                  </a:txBody>
                  <a:tcPr marL="4670" marR="4670" marT="467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EE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113,3606</a:t>
                      </a:r>
                    </a:p>
                  </a:txBody>
                  <a:tcPr marL="4670" marR="4670" marT="467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EE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86,9166</a:t>
                      </a:r>
                    </a:p>
                  </a:txBody>
                  <a:tcPr marL="4670" marR="4670" marT="467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EE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de-DE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102,6938</a:t>
                      </a:r>
                    </a:p>
                  </a:txBody>
                  <a:tcPr marL="4670" marR="4670" marT="467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EE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50,3083</a:t>
                      </a:r>
                    </a:p>
                  </a:txBody>
                  <a:tcPr marL="4670" marR="4670" marT="467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6845000"/>
                  </a:ext>
                </a:extLst>
              </a:tr>
              <a:tr h="21941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e-DE" sz="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Durchschnitt</a:t>
                      </a:r>
                    </a:p>
                  </a:txBody>
                  <a:tcPr marL="4670" marR="4670" marT="4670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0,4912</a:t>
                      </a:r>
                    </a:p>
                  </a:txBody>
                  <a:tcPr marL="4670" marR="4670" marT="467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de-DE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0,1786</a:t>
                      </a:r>
                    </a:p>
                  </a:txBody>
                  <a:tcPr marL="4670" marR="4670" marT="467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317,99</a:t>
                      </a:r>
                    </a:p>
                  </a:txBody>
                  <a:tcPr marL="4670" marR="4670" marT="467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37,76</a:t>
                      </a:r>
                    </a:p>
                  </a:txBody>
                  <a:tcPr marL="4670" marR="4670" marT="467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6,3135</a:t>
                      </a:r>
                    </a:p>
                  </a:txBody>
                  <a:tcPr marL="4670" marR="4670" marT="467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408,35</a:t>
                      </a:r>
                    </a:p>
                  </a:txBody>
                  <a:tcPr marL="4670" marR="4670" marT="467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4262594"/>
                  </a:ext>
                </a:extLst>
              </a:tr>
              <a:tr h="21941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e-DE" sz="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Standartabweichung</a:t>
                      </a:r>
                    </a:p>
                  </a:txBody>
                  <a:tcPr marL="4670" marR="4670" marT="4670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0,0470</a:t>
                      </a:r>
                    </a:p>
                  </a:txBody>
                  <a:tcPr marL="4670" marR="4670" marT="467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0,0610</a:t>
                      </a:r>
                    </a:p>
                  </a:txBody>
                  <a:tcPr marL="4670" marR="4670" marT="467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115,70</a:t>
                      </a:r>
                    </a:p>
                  </a:txBody>
                  <a:tcPr marL="4670" marR="4670" marT="467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11,86</a:t>
                      </a:r>
                    </a:p>
                  </a:txBody>
                  <a:tcPr marL="4670" marR="4670" marT="467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2,1200</a:t>
                      </a:r>
                    </a:p>
                  </a:txBody>
                  <a:tcPr marL="4670" marR="4670" marT="467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126,60</a:t>
                      </a:r>
                    </a:p>
                  </a:txBody>
                  <a:tcPr marL="4670" marR="4670" marT="467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0547721"/>
                  </a:ext>
                </a:extLst>
              </a:tr>
              <a:tr h="21941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e-DE" sz="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T-Test (Mittelwert) p-Wert never</a:t>
                      </a:r>
                    </a:p>
                  </a:txBody>
                  <a:tcPr marL="4670" marR="4670" marT="4670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0,8872</a:t>
                      </a:r>
                    </a:p>
                  </a:txBody>
                  <a:tcPr marL="4670" marR="4670" marT="467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E49ED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0,5413</a:t>
                      </a:r>
                    </a:p>
                  </a:txBody>
                  <a:tcPr marL="4670" marR="4670" marT="467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0,9216</a:t>
                      </a:r>
                    </a:p>
                  </a:txBody>
                  <a:tcPr marL="4670" marR="4670" marT="467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0,8002</a:t>
                      </a:r>
                    </a:p>
                  </a:txBody>
                  <a:tcPr marL="4670" marR="4670" marT="467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de-DE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0,4468</a:t>
                      </a:r>
                    </a:p>
                  </a:txBody>
                  <a:tcPr marL="4670" marR="4670" marT="467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0,2827</a:t>
                      </a:r>
                    </a:p>
                  </a:txBody>
                  <a:tcPr marL="4670" marR="4670" marT="467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E49E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378816"/>
                  </a:ext>
                </a:extLst>
              </a:tr>
              <a:tr h="21941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e-DE" sz="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T-Test (Mittelwert) p-Wert allways</a:t>
                      </a:r>
                    </a:p>
                  </a:txBody>
                  <a:tcPr marL="4670" marR="4670" marT="4670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0,1048</a:t>
                      </a:r>
                    </a:p>
                  </a:txBody>
                  <a:tcPr marL="4670" marR="4670" marT="467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0,3348</a:t>
                      </a:r>
                    </a:p>
                  </a:txBody>
                  <a:tcPr marL="4670" marR="4670" marT="467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0,9162</a:t>
                      </a:r>
                    </a:p>
                  </a:txBody>
                  <a:tcPr marL="4670" marR="4670" marT="467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0,5159</a:t>
                      </a:r>
                    </a:p>
                  </a:txBody>
                  <a:tcPr marL="4670" marR="4670" marT="467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0,4044</a:t>
                      </a:r>
                    </a:p>
                  </a:txBody>
                  <a:tcPr marL="4670" marR="4670" marT="467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0,4807</a:t>
                      </a:r>
                    </a:p>
                  </a:txBody>
                  <a:tcPr marL="4670" marR="4670" marT="467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9E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6212912"/>
                  </a:ext>
                </a:extLst>
              </a:tr>
              <a:tr h="21455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e-DE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Mann-Whitney (Rangverteilung) p-Wert </a:t>
                      </a:r>
                      <a:r>
                        <a:rPr lang="de-DE" sz="8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never</a:t>
                      </a:r>
                      <a:endParaRPr lang="de-DE" sz="8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670" marR="4670" marT="4670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0,9698</a:t>
                      </a:r>
                    </a:p>
                  </a:txBody>
                  <a:tcPr marL="4670" marR="4670" marT="467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E49ED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0,5932</a:t>
                      </a:r>
                    </a:p>
                  </a:txBody>
                  <a:tcPr marL="4670" marR="4670" marT="467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0,7538</a:t>
                      </a:r>
                    </a:p>
                  </a:txBody>
                  <a:tcPr marL="4670" marR="4670" marT="467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0,8196</a:t>
                      </a:r>
                    </a:p>
                  </a:txBody>
                  <a:tcPr marL="4670" marR="4670" marT="467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0,6172</a:t>
                      </a:r>
                    </a:p>
                  </a:txBody>
                  <a:tcPr marL="4670" marR="4670" marT="467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0,1524</a:t>
                      </a:r>
                    </a:p>
                  </a:txBody>
                  <a:tcPr marL="4670" marR="4670" marT="467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E49E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4906836"/>
                  </a:ext>
                </a:extLst>
              </a:tr>
              <a:tr h="2222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e-DE" sz="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Mann-Whitney (Rangverteilung) p-Wert always</a:t>
                      </a:r>
                    </a:p>
                  </a:txBody>
                  <a:tcPr marL="4670" marR="4670" marT="4670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0,1467</a:t>
                      </a:r>
                    </a:p>
                  </a:txBody>
                  <a:tcPr marL="4670" marR="4670" marT="467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0,5464</a:t>
                      </a:r>
                    </a:p>
                  </a:txBody>
                  <a:tcPr marL="4670" marR="4670" marT="467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0,9204</a:t>
                      </a:r>
                    </a:p>
                  </a:txBody>
                  <a:tcPr marL="4670" marR="4670" marT="467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0,5739</a:t>
                      </a:r>
                    </a:p>
                  </a:txBody>
                  <a:tcPr marL="4670" marR="4670" marT="467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0,6817</a:t>
                      </a:r>
                    </a:p>
                  </a:txBody>
                  <a:tcPr marL="4670" marR="4670" marT="467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0,5780</a:t>
                      </a:r>
                    </a:p>
                  </a:txBody>
                  <a:tcPr marL="4670" marR="4670" marT="467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1971587"/>
                  </a:ext>
                </a:extLst>
              </a:tr>
              <a:tr h="2476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e-DE" sz="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KS-Test (gesamte Verteilung) p-Wert never</a:t>
                      </a:r>
                    </a:p>
                  </a:txBody>
                  <a:tcPr marL="4670" marR="4670" marT="4670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0,8409</a:t>
                      </a:r>
                    </a:p>
                  </a:txBody>
                  <a:tcPr marL="4670" marR="4670" marT="467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E49ED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0,3584</a:t>
                      </a:r>
                    </a:p>
                  </a:txBody>
                  <a:tcPr marL="4670" marR="4670" marT="467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de-DE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0,5077</a:t>
                      </a:r>
                    </a:p>
                  </a:txBody>
                  <a:tcPr marL="4670" marR="4670" marT="467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0,8409</a:t>
                      </a:r>
                    </a:p>
                  </a:txBody>
                  <a:tcPr marL="4670" marR="4670" marT="467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de-DE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0,3584</a:t>
                      </a:r>
                    </a:p>
                  </a:txBody>
                  <a:tcPr marL="4670" marR="4670" marT="467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0,6779</a:t>
                      </a:r>
                    </a:p>
                  </a:txBody>
                  <a:tcPr marL="4670" marR="4670" marT="467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8674770"/>
                  </a:ext>
                </a:extLst>
              </a:tr>
              <a:tr h="2603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e-DE" sz="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KS-Test (gesamte Verteilung) p-Wert always</a:t>
                      </a:r>
                    </a:p>
                  </a:txBody>
                  <a:tcPr marL="4670" marR="4670" marT="4670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0,1546</a:t>
                      </a:r>
                    </a:p>
                  </a:txBody>
                  <a:tcPr marL="4670" marR="4670" marT="467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0,6779</a:t>
                      </a:r>
                    </a:p>
                  </a:txBody>
                  <a:tcPr marL="4670" marR="4670" marT="467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0,9541</a:t>
                      </a:r>
                    </a:p>
                  </a:txBody>
                  <a:tcPr marL="4670" marR="4670" marT="467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0,9958</a:t>
                      </a:r>
                    </a:p>
                  </a:txBody>
                  <a:tcPr marL="4670" marR="4670" marT="467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0,9541</a:t>
                      </a:r>
                    </a:p>
                  </a:txBody>
                  <a:tcPr marL="4670" marR="4670" marT="467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de-DE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1,0000</a:t>
                      </a:r>
                    </a:p>
                  </a:txBody>
                  <a:tcPr marL="4670" marR="4670" marT="467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0564412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e-DE" sz="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Cohen's d (Zufälligkeit des Unterschieds) never</a:t>
                      </a:r>
                    </a:p>
                  </a:txBody>
                  <a:tcPr marL="4670" marR="4670" marT="4670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-0,0284</a:t>
                      </a:r>
                    </a:p>
                  </a:txBody>
                  <a:tcPr marL="4670" marR="4670" marT="467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E49ED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0,1227</a:t>
                      </a:r>
                    </a:p>
                  </a:txBody>
                  <a:tcPr marL="4670" marR="4670" marT="467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-0,0197</a:t>
                      </a:r>
                    </a:p>
                  </a:txBody>
                  <a:tcPr marL="4670" marR="4670" marT="467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-0,0508</a:t>
                      </a:r>
                    </a:p>
                  </a:txBody>
                  <a:tcPr marL="4670" marR="4670" marT="467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-0,1529</a:t>
                      </a:r>
                    </a:p>
                  </a:txBody>
                  <a:tcPr marL="4670" marR="4670" marT="467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de-DE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-0,2160</a:t>
                      </a:r>
                    </a:p>
                  </a:txBody>
                  <a:tcPr marL="4670" marR="4670" marT="467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E49E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6494819"/>
                  </a:ext>
                </a:extLst>
              </a:tr>
              <a:tr h="19352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e-DE" sz="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Cohen's d (Zufälligkeit des Unterschieds) always</a:t>
                      </a:r>
                    </a:p>
                  </a:txBody>
                  <a:tcPr marL="4670" marR="4670" marT="4670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0,3276</a:t>
                      </a:r>
                    </a:p>
                  </a:txBody>
                  <a:tcPr marL="4670" marR="4670" marT="467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0,1939</a:t>
                      </a:r>
                    </a:p>
                  </a:txBody>
                  <a:tcPr marL="4670" marR="4670" marT="467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-0,0211</a:t>
                      </a:r>
                    </a:p>
                  </a:txBody>
                  <a:tcPr marL="4670" marR="4670" marT="467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0,1304</a:t>
                      </a:r>
                    </a:p>
                  </a:txBody>
                  <a:tcPr marL="4670" marR="4670" marT="467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-0,1676</a:t>
                      </a:r>
                    </a:p>
                  </a:txBody>
                  <a:tcPr marL="4670" marR="4670" marT="467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de-DE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-0,1416</a:t>
                      </a:r>
                    </a:p>
                  </a:txBody>
                  <a:tcPr marL="4670" marR="4670" marT="467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32242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8931917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1E78D12-07F1-6A9A-B7C7-38E32E3B50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Fazit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C14AD9A-E040-8B13-1F5B-E960F97A68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Keine statistisch signifikanten Unterschiede zwischen den Zufallsquellen feststellbar, lediglich leichte Abweichungen beim Run-Test und dem Endguthaben. </a:t>
            </a:r>
          </a:p>
          <a:p>
            <a:pPr>
              <a:buFont typeface="Wingdings" panose="05000000000000000000" pitchFamily="2" charset="2"/>
              <a:buChar char="à"/>
            </a:pPr>
            <a: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anose="05000000000000000000" pitchFamily="2" charset="2"/>
              </a:rPr>
              <a:t> Statistische Streuung</a:t>
            </a:r>
            <a: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</a:t>
            </a:r>
          </a:p>
          <a:p>
            <a:pPr>
              <a:buFont typeface="Wingdings" panose="05000000000000000000" pitchFamily="2" charset="2"/>
              <a:buChar char="à"/>
            </a:pPr>
            <a: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anose="05000000000000000000" pitchFamily="2" charset="2"/>
              </a:rPr>
              <a:t> p-Werte des Run-Tests basieren auf Zufall </a:t>
            </a:r>
          </a:p>
          <a:p>
            <a:pPr>
              <a:buFont typeface="Wingdings" panose="05000000000000000000" pitchFamily="2" charset="2"/>
              <a:buChar char="à"/>
            </a:pPr>
            <a: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anose="05000000000000000000" pitchFamily="2" charset="2"/>
              </a:rPr>
              <a:t> Numerische Schwankungen </a:t>
            </a:r>
          </a:p>
          <a:p>
            <a:pPr>
              <a:buFont typeface="Wingdings" panose="05000000000000000000" pitchFamily="2" charset="2"/>
              <a:buChar char="à"/>
            </a:pPr>
            <a: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anose="05000000000000000000" pitchFamily="2" charset="2"/>
              </a:rPr>
              <a:t> Möglicherweise ausgewertete Datenmenge zu klein</a:t>
            </a:r>
          </a:p>
          <a:p>
            <a:pPr marL="0" indent="0">
              <a:buNone/>
            </a:pPr>
            <a:b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Insgesamt ergibt sich somit kein aussagekräftiger Hinweis darauf, dass Quantenzufall in diesem Anwendungskontext andere Ergebnisse liefert als klassischer Pseudozufall.</a:t>
            </a:r>
          </a:p>
        </p:txBody>
      </p:sp>
    </p:spTree>
    <p:extLst>
      <p:ext uri="{BB962C8B-B14F-4D97-AF65-F5344CB8AC3E}">
        <p14:creationId xmlns:p14="http://schemas.microsoft.com/office/powerpoint/2010/main" val="19060367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E01B3AD-98C6-9F93-E31D-0060315856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8016" y="299395"/>
            <a:ext cx="9905998" cy="1478570"/>
          </a:xfrm>
        </p:spPr>
        <p:txBody>
          <a:bodyPr/>
          <a:lstStyle/>
          <a:p>
            <a: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Ausblick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457A149-6611-AFCB-8F3C-E5AC4E51EE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809" y="1620145"/>
            <a:ext cx="10359162" cy="4504494"/>
          </a:xfrm>
        </p:spPr>
        <p:txBody>
          <a:bodyPr>
            <a:normAutofit fontScale="70000" lnSpcReduction="20000"/>
          </a:bodyPr>
          <a:lstStyle/>
          <a:p>
            <a: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Abweichungen bei den Ergebnissen des Run-Test und des Endguthabens</a:t>
            </a:r>
          </a:p>
          <a:p>
            <a:pPr lvl="1">
              <a:buFont typeface="Wingdings" panose="05000000000000000000" pitchFamily="2" charset="2"/>
              <a:buChar char="à"/>
            </a:pPr>
            <a: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Testen der Reproduzierbarkeit der Abweichungen des Run-Tests und der Endguthaben durch erneutes Durchführen mit neu generierten Quantum-Bitsequenzen, um die Stabilität der Ergebnisse zu überprüfen.</a:t>
            </a:r>
          </a:p>
          <a:p>
            <a: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Aggregation von 32 Bit zu einer Zahl kann die Eigenschaften des Zufalls beeinflussen, vor allem Verteilung und Korrelation</a:t>
            </a:r>
          </a:p>
          <a:p>
            <a:pPr lvl="1">
              <a:buFont typeface="Wingdings" panose="05000000000000000000" pitchFamily="2" charset="2"/>
              <a:buChar char="à"/>
            </a:pPr>
            <a: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Variation der Art der Zufallszahlengenerierung, beispielsweise durch andere Bitlängen oder alternative Transformationen der Rohdaten</a:t>
            </a:r>
          </a:p>
          <a:p>
            <a: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Modellierung älterer Slot Maschinen, bei denen die Symbole nicht unabhängig gezogen werden, sondern durch feste Walzenstrukturen bestimmt sind.</a:t>
            </a:r>
          </a:p>
          <a:p>
            <a: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Entwicklung eines grafischen Interface</a:t>
            </a:r>
          </a:p>
          <a:p>
            <a:r>
              <a:rPr lang="de-DE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Gamble</a:t>
            </a:r>
            <a: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– Option nur </a:t>
            </a:r>
            <a:r>
              <a:rPr lang="de-DE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Gamblen</a:t>
            </a:r>
            <a: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falls Gewinn höher/tiefer als x implementieren </a:t>
            </a:r>
          </a:p>
          <a:p>
            <a: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Statistische Untersuchung von Save und Risk Mode</a:t>
            </a:r>
          </a:p>
          <a:p>
            <a: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Eine Analyse realer Spielautomaten wäre von Interesse, insbesondere ob moderne Systeme ausschließlich auf Wahrscheinlichkeiten basieren oder zusätzliche Steuerungsmechanismen enthalten.</a:t>
            </a:r>
          </a:p>
        </p:txBody>
      </p:sp>
    </p:spTree>
    <p:extLst>
      <p:ext uri="{BB962C8B-B14F-4D97-AF65-F5344CB8AC3E}">
        <p14:creationId xmlns:p14="http://schemas.microsoft.com/office/powerpoint/2010/main" val="12622707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43E6482-DED0-B676-8E87-95AAEEADE8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Quellen Bilder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01F5A95-6500-FA23-6429-62EDEDEC0D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[B1]: https://artpictures.club/autumn-2023.html</a:t>
            </a:r>
          </a:p>
          <a:p>
            <a: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[B2]: https://www.amazon.com/TrueRNG-V3-Hardware-Random-Generator/dp/B01KR2JHTA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9777334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D339E91-1CF0-83E6-78D8-00B6FBD2A7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Download GIT Repository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BC92036-1867-7DE0-8F00-3596AF05A6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847211"/>
            <a:ext cx="9905999" cy="3943990"/>
          </a:xfrm>
        </p:spPr>
        <p:txBody>
          <a:bodyPr>
            <a:normAutofit fontScale="85000" lnSpcReduction="10000"/>
          </a:bodyPr>
          <a:lstStyle/>
          <a:p>
            <a: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GIT unter Folgendem Link herunterladen (Windows) </a:t>
            </a:r>
            <a:b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https://git-scm.com/install/windows</a:t>
            </a:r>
            <a:endParaRPr lang="de-DE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Eingabeaufforderung im Startmenü suchen und öffnen</a:t>
            </a:r>
          </a:p>
          <a:p>
            <a: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Mit dem Befehl „</a:t>
            </a:r>
            <a:r>
              <a:rPr lang="de-DE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git</a:t>
            </a:r>
            <a: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--version“ können Sie prüfen ob die Installation funktioniert hat (sollte eine Ausgabe wie „</a:t>
            </a:r>
            <a:r>
              <a:rPr lang="de-DE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git</a:t>
            </a:r>
            <a: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de-DE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version</a:t>
            </a:r>
            <a: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2.x.x“ anzeigen), anschließend Eingabeaufforderung wieder schließen</a:t>
            </a:r>
          </a:p>
          <a:p>
            <a:r>
              <a:rPr lang="fr-FR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Öffnen</a:t>
            </a:r>
            <a:r>
              <a:rPr lang="fr-F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Sie</a:t>
            </a:r>
            <a:r>
              <a:rPr lang="fr-F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den </a:t>
            </a:r>
            <a:r>
              <a:rPr lang="fr-FR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Ordner</a:t>
            </a:r>
            <a:r>
              <a:rPr lang="fr-F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in </a:t>
            </a:r>
            <a:r>
              <a:rPr lang="fr-FR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dem</a:t>
            </a:r>
            <a:r>
              <a:rPr lang="fr-F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Sie</a:t>
            </a:r>
            <a:r>
              <a:rPr lang="fr-F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die </a:t>
            </a:r>
            <a:r>
              <a:rPr lang="fr-FR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Dateien</a:t>
            </a:r>
            <a:r>
              <a:rPr lang="fr-F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speichern</a:t>
            </a:r>
            <a:r>
              <a:rPr lang="fr-F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möchten</a:t>
            </a:r>
            <a:r>
              <a:rPr lang="fr-F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und</a:t>
            </a:r>
            <a:r>
              <a:rPr lang="fr-F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wählen</a:t>
            </a:r>
            <a:r>
              <a:rPr lang="fr-F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Sie</a:t>
            </a:r>
            <a:r>
              <a:rPr lang="fr-F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dort mit </a:t>
            </a:r>
            <a:r>
              <a:rPr lang="fr-FR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Rechtsklick</a:t>
            </a:r>
            <a: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„in Terminal öffnen“ </a:t>
            </a:r>
          </a:p>
          <a:p>
            <a: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Mit dem Befehl „</a:t>
            </a:r>
            <a:r>
              <a:rPr lang="de-DE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git</a:t>
            </a:r>
            <a: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de-DE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clone</a:t>
            </a:r>
            <a: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https://github.com/freiheits-</a:t>
            </a:r>
            <a:r>
              <a:rPr lang="de-DE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stack</a:t>
            </a:r>
            <a: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/</a:t>
            </a:r>
            <a:r>
              <a:rPr lang="de-DE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slot_project.git</a:t>
            </a:r>
            <a: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“ startet der Download in Ihren ausgewählten Ordner</a:t>
            </a:r>
          </a:p>
        </p:txBody>
      </p:sp>
    </p:spTree>
    <p:extLst>
      <p:ext uri="{BB962C8B-B14F-4D97-AF65-F5344CB8AC3E}">
        <p14:creationId xmlns:p14="http://schemas.microsoft.com/office/powerpoint/2010/main" val="52814347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chaltkreis">
  <a:themeElements>
    <a:clrScheme name="Schaltkreis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Schaltkreis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chaltkreis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TM04033919[[fn=Schaltkreis]]</Template>
  <TotalTime>0</TotalTime>
  <Words>1229</Words>
  <Application>Microsoft Office PowerPoint</Application>
  <PresentationFormat>Breitbild</PresentationFormat>
  <Paragraphs>302</Paragraphs>
  <Slides>18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7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18</vt:i4>
      </vt:variant>
    </vt:vector>
  </HeadingPairs>
  <TitlesOfParts>
    <vt:vector size="26" baseType="lpstr">
      <vt:lpstr>Aptos</vt:lpstr>
      <vt:lpstr>Aptos Narrow</vt:lpstr>
      <vt:lpstr>Arial</vt:lpstr>
      <vt:lpstr>Cambria</vt:lpstr>
      <vt:lpstr>Cambria Math</vt:lpstr>
      <vt:lpstr>Tw Cen MT</vt:lpstr>
      <vt:lpstr>Wingdings</vt:lpstr>
      <vt:lpstr>Schaltkreis</vt:lpstr>
      <vt:lpstr>Entwicklung eines einfachen Spiels unter Steuerung von Quantenzufall Analyse von Pseudo- vs. Quantenzufall</vt:lpstr>
      <vt:lpstr>Gliederung</vt:lpstr>
      <vt:lpstr>Motivation</vt:lpstr>
      <vt:lpstr>Forschungsfrage</vt:lpstr>
      <vt:lpstr>Versuchsaufbau – Slot Maschine als Modell</vt:lpstr>
      <vt:lpstr>Spielmechanik</vt:lpstr>
      <vt:lpstr>Features</vt:lpstr>
      <vt:lpstr>Erwartungswert &amp; Varianz</vt:lpstr>
      <vt:lpstr>Umsetzung der Zufallszahlen</vt:lpstr>
      <vt:lpstr>Experimentdesign</vt:lpstr>
      <vt:lpstr>Untersuchte Kennzahlen</vt:lpstr>
      <vt:lpstr>Ergebnisse – RTP</vt:lpstr>
      <vt:lpstr>Ergebnisse – Auto-korrelation</vt:lpstr>
      <vt:lpstr>Weitere Metriken</vt:lpstr>
      <vt:lpstr>Fazit</vt:lpstr>
      <vt:lpstr>Ausblick</vt:lpstr>
      <vt:lpstr>Quellen Bilder</vt:lpstr>
      <vt:lpstr>Download GIT Repository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Stefanie Freiheit</dc:creator>
  <cp:lastModifiedBy>Stefanie Freiheit</cp:lastModifiedBy>
  <cp:revision>17</cp:revision>
  <dcterms:created xsi:type="dcterms:W3CDTF">2026-04-15T12:04:24Z</dcterms:created>
  <dcterms:modified xsi:type="dcterms:W3CDTF">2026-04-21T09:25:00Z</dcterms:modified>
</cp:coreProperties>
</file>