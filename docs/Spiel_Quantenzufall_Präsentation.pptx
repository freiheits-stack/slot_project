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3" r:id="rId1"/>
  </p:sldMasterIdLst>
  <p:sldIdLst>
    <p:sldId id="256" r:id="rId2"/>
    <p:sldId id="257" r:id="rId3"/>
    <p:sldId id="258" r:id="rId4"/>
    <p:sldId id="259" r:id="rId5"/>
    <p:sldId id="272" r:id="rId6"/>
    <p:sldId id="264" r:id="rId7"/>
    <p:sldId id="276" r:id="rId8"/>
    <p:sldId id="275" r:id="rId9"/>
    <p:sldId id="274" r:id="rId10"/>
    <p:sldId id="266" r:id="rId11"/>
    <p:sldId id="261" r:id="rId12"/>
    <p:sldId id="273" r:id="rId13"/>
    <p:sldId id="267" r:id="rId14"/>
    <p:sldId id="268" r:id="rId15"/>
    <p:sldId id="269" r:id="rId16"/>
    <p:sldId id="270" r:id="rId17"/>
    <p:sldId id="271" r:id="rId18"/>
    <p:sldId id="265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348" y="1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B6D41BCC-AD73-4203-A5A6-E62EB28B0FE6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D637F8FC-4B86-4690-8888-22AB2F781BEF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04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494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418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0531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099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732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5079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113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4133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54890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4096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615971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5287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7278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10635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0889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226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D41BCC-AD73-4203-A5A6-E62EB28B0FE6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37F8FC-4B86-4690-8888-22AB2F781BEF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31298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  <p:sldLayoutId id="2147483725" r:id="rId12"/>
    <p:sldLayoutId id="2147483726" r:id="rId13"/>
    <p:sldLayoutId id="2147483727" r:id="rId14"/>
    <p:sldLayoutId id="2147483728" r:id="rId15"/>
    <p:sldLayoutId id="2147483729" r:id="rId16"/>
    <p:sldLayoutId id="2147483730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F0D314-95CE-74DE-04C4-D8E98B8800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de-DE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Entwicklung eines einfachen Spiels unter Steuerung von Quantenzufall</a:t>
            </a:r>
            <a:br>
              <a:rPr lang="de-DE" dirty="0"/>
            </a:br>
            <a:r>
              <a:rPr lang="de-DE" sz="27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Analyse von Pseudo- vs. Quantenzufall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33E223C-D13E-1185-DAA2-DC56DF3504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e-DE" altLang="zh-CN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Stefanie Freiheit</a:t>
            </a:r>
            <a:br>
              <a:rPr lang="de-DE" altLang="zh-CN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de-DE" altLang="zh-CN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Computational Science and Engineering</a:t>
            </a:r>
            <a:endParaRPr lang="de-D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Cambria" panose="02040503050406030204" pitchFamily="18" charset="0"/>
              </a:rPr>
              <a:t>Betreuer: Prof. Dr. Ralf Otte</a:t>
            </a:r>
            <a:b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Cambria" panose="02040503050406030204" pitchFamily="18" charset="0"/>
              </a:rPr>
            </a:b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Cambria" panose="02040503050406030204" pitchFamily="18" charset="0"/>
              </a:rPr>
              <a:t>Technische Hochschule Ulm</a:t>
            </a:r>
          </a:p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Cambria" panose="02040503050406030204" pitchFamily="18" charset="0"/>
              </a:rPr>
              <a:t>17.04.2026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05389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4DAC21-8AA8-0117-AE94-162FE78FA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GLiederung</a:t>
            </a:r>
            <a:endParaRPr lang="de-D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82FED47-C3A5-2B12-1C4B-E874C6ED4AB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Motivation</a:t>
            </a:r>
          </a:p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Forschungsfrage</a:t>
            </a:r>
          </a:p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Versuchsaufbau</a:t>
            </a:r>
          </a:p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Spielmechanik &amp; Features</a:t>
            </a:r>
          </a:p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 der Zufallszahlen</a:t>
            </a:r>
          </a:p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Experimentdesign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D9FD5FE-2B5C-481F-6B1E-3CAEAC08C07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Untersuchte Kennzahlen</a:t>
            </a:r>
          </a:p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Ergebnisse</a:t>
            </a:r>
          </a:p>
          <a:p>
            <a:pPr lvl="1"/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RTP</a:t>
            </a:r>
          </a:p>
          <a:p>
            <a:pPr lvl="1"/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Hit Rate</a:t>
            </a:r>
          </a:p>
          <a:p>
            <a:pPr lvl="1"/>
            <a:r>
              <a:rPr lang="de-DE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Autocorrelation</a:t>
            </a:r>
            <a:endParaRPr lang="de-D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Varianz</a:t>
            </a:r>
          </a:p>
        </p:txBody>
      </p:sp>
    </p:spTree>
    <p:extLst>
      <p:ext uri="{BB962C8B-B14F-4D97-AF65-F5344CB8AC3E}">
        <p14:creationId xmlns:p14="http://schemas.microsoft.com/office/powerpoint/2010/main" val="35736269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DBE474-6199-21A7-23E2-FDCB50865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MOtivation</a:t>
            </a:r>
            <a:endParaRPr lang="de-D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3F5D33-ECDC-B8D3-9FDB-8FB870A189A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de-DE" dirty="0">
                <a:solidFill>
                  <a:srgbClr val="C00000"/>
                </a:solidFill>
              </a:rPr>
              <a:t>Bild </a:t>
            </a:r>
            <a:r>
              <a:rPr lang="de-DE" dirty="0" err="1">
                <a:solidFill>
                  <a:srgbClr val="C00000"/>
                </a:solidFill>
              </a:rPr>
              <a:t>Slotmaschine</a:t>
            </a:r>
            <a:endParaRPr lang="de-DE" dirty="0">
              <a:solidFill>
                <a:srgbClr val="C00000"/>
              </a:solidFill>
            </a:endParaRP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FFFC6B5-5785-63FA-3761-129190A5A42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pPr marL="36900" lvl="0" indent="0">
              <a:buNone/>
            </a:pP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Zufall spielt eine zentrale Rolle in:</a:t>
            </a:r>
            <a:b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b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• Glücksspielsystemen (z. B. </a:t>
            </a:r>
            <a:r>
              <a:rPr lang="de-DE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Slotmaschinen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)</a:t>
            </a:r>
            <a:b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• Simulationen und Modellierungen</a:t>
            </a:r>
            <a:b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• Kryptographischen Anwendungen</a:t>
            </a:r>
            <a:b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b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 der Praxis werden meist Pseudozufallszahlen verwendet.</a:t>
            </a:r>
            <a:b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b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→ Frage: Reicht das aus?</a:t>
            </a:r>
          </a:p>
        </p:txBody>
      </p:sp>
    </p:spTree>
    <p:extLst>
      <p:ext uri="{BB962C8B-B14F-4D97-AF65-F5344CB8AC3E}">
        <p14:creationId xmlns:p14="http://schemas.microsoft.com/office/powerpoint/2010/main" val="387394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AA9815-C4F7-E74F-3437-294FE687B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Forschungsfrage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273105-3247-7FA4-977F-759FBA6626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Unterscheidet sich das Verhalten von Pseudozufall und Quantenzufall in einem konkreten Anwendungsszenario (= </a:t>
            </a:r>
            <a:r>
              <a:rPr lang="de-DE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Slotmaschine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) messbar in statistischen Kennzahlen?</a:t>
            </a:r>
            <a:b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b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de-DE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Fokus:</a:t>
            </a:r>
            <a:br>
              <a:rPr lang="de-DE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br>
              <a:rPr lang="de-DE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de-DE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• Erwartungswert (RTP)</a:t>
            </a:r>
            <a:br>
              <a:rPr lang="de-DE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de-DE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• Varianz / Streuung</a:t>
            </a:r>
            <a:br>
              <a:rPr lang="de-DE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de-DE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• zeitliche Abhängigkeiten</a:t>
            </a:r>
          </a:p>
        </p:txBody>
      </p:sp>
    </p:spTree>
    <p:extLst>
      <p:ext uri="{BB962C8B-B14F-4D97-AF65-F5344CB8AC3E}">
        <p14:creationId xmlns:p14="http://schemas.microsoft.com/office/powerpoint/2010/main" val="7393951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2C1D4E-C049-20BC-7114-893525B25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Versuchsaufbau – Slot Maschine als Modell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F952372-28DA-9FC2-08AC-53667541A0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Implementierung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A6DB417-49C2-4F93-7154-EFB27AC2AE7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Programmiersprache: 	Python</a:t>
            </a:r>
          </a:p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IDE: 			VS Code</a:t>
            </a:r>
          </a:p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Geteilt via: 		</a:t>
            </a:r>
            <a:r>
              <a:rPr lang="de-DE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Git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-Repository</a:t>
            </a:r>
          </a:p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Ausgabe: 		CSV-Dateien</a:t>
            </a:r>
          </a:p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Auswertung:		MATLAB (statistische Tests)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8D0618F-C1E9-DD93-17EE-63474B7AE1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Externe Hardware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7F1E68F-E855-74DD-623E-F8F3C361063E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TrueRNG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-Stick</a:t>
            </a:r>
            <a:b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– liefert physikalisch erzeugte Zufallsbits</a:t>
            </a:r>
          </a:p>
          <a:p>
            <a:endParaRPr lang="de-DE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de-DE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BILD</a:t>
            </a:r>
          </a:p>
        </p:txBody>
      </p:sp>
    </p:spTree>
    <p:extLst>
      <p:ext uri="{BB962C8B-B14F-4D97-AF65-F5344CB8AC3E}">
        <p14:creationId xmlns:p14="http://schemas.microsoft.com/office/powerpoint/2010/main" val="37030169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9C8939-7C4A-D1C2-1682-7E4C034A6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&amp; Features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848BA1C-F5DF-A74D-1439-35F8A32EDA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Spielmechanik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64AD7A3-2467-7A00-8837-D15DA32EA3A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55000" lnSpcReduction="20000"/>
          </a:bodyPr>
          <a:lstStyle/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 Walzen </a:t>
            </a:r>
          </a:p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 mehrere Symbole (A – E)</a:t>
            </a:r>
          </a:p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Variable Zufallsquelle</a:t>
            </a:r>
          </a:p>
          <a:p>
            <a:pPr lvl="1"/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Live Quantenzufall über </a:t>
            </a:r>
            <a:r>
              <a:rPr lang="de-DE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TrueRNG</a:t>
            </a:r>
            <a:endParaRPr lang="de-D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Vorgenerierte Zufalls-Bitsequenzen (reproduzierbar)</a:t>
            </a:r>
          </a:p>
          <a:p>
            <a:pPr lvl="1"/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Pseudozufall (Reproduzierbar mit Seed)</a:t>
            </a:r>
          </a:p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variable Einsätze (1, 3, 5)</a:t>
            </a:r>
          </a:p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variable Gewinnlinienanzahl (1, 3, 5)</a:t>
            </a:r>
          </a:p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Startkapital wählbar</a:t>
            </a:r>
          </a:p>
          <a:p>
            <a:endParaRPr lang="de-DE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FBC66E2-6C7E-E265-C242-D174528638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de-D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A85FD2D-1DE2-5801-F174-DF02D931D569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55000" lnSpcReduction="20000"/>
          </a:bodyPr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216763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AECC78-6611-F181-F92D-331616544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Spielmechanik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0511B8-BCB6-5663-5A75-A69ECECD42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 Walzen </a:t>
            </a:r>
          </a:p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 mehrere Symbole (A – E)</a:t>
            </a:r>
          </a:p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Variable Zufallsquelle</a:t>
            </a:r>
          </a:p>
          <a:p>
            <a:pPr lvl="1"/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Live Quantenzufall über </a:t>
            </a:r>
            <a:r>
              <a:rPr lang="de-DE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TrueRNG</a:t>
            </a:r>
            <a:endParaRPr lang="de-D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Vorgenerierte Zufalls-Bitsequenzen (reproduzierbar)</a:t>
            </a:r>
          </a:p>
          <a:p>
            <a:pPr lvl="1"/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Pseudozufall (Reproduzierbar mit Seed)</a:t>
            </a:r>
          </a:p>
          <a:p>
            <a:r>
              <a:rPr lang="de-DE" dirty="0"/>
              <a:t>Variable Spielmodi</a:t>
            </a:r>
          </a:p>
          <a:p>
            <a:pPr lvl="1"/>
            <a:r>
              <a:rPr lang="de-DE" dirty="0"/>
              <a:t>CLI</a:t>
            </a:r>
          </a:p>
          <a:p>
            <a:pPr lvl="1"/>
            <a:r>
              <a:rPr lang="de-DE"/>
              <a:t>Autoplay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E8692C7-FDFF-8736-EE6D-188CFD9D9F8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variable Einsätze (1, 3, 5)</a:t>
            </a:r>
          </a:p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variable Gewinnlinienanzahl (1, 3, 5)</a:t>
            </a:r>
          </a:p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Startkapital wählbar</a:t>
            </a:r>
          </a:p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Ende des Spiels:</a:t>
            </a:r>
          </a:p>
          <a:p>
            <a:pPr lvl="1"/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Manuell</a:t>
            </a:r>
          </a:p>
          <a:p>
            <a:pPr lvl="1"/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Bankrott</a:t>
            </a:r>
          </a:p>
          <a:p>
            <a:pPr lvl="1"/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Bei Autoplay:</a:t>
            </a:r>
          </a:p>
          <a:p>
            <a:pPr lvl="2"/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Wählbare Maximalanzahl an Spins</a:t>
            </a:r>
          </a:p>
          <a:p>
            <a:pPr lvl="2"/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Wählbarer Zielgewinn</a:t>
            </a:r>
          </a:p>
        </p:txBody>
      </p:sp>
    </p:spTree>
    <p:extLst>
      <p:ext uri="{BB962C8B-B14F-4D97-AF65-F5344CB8AC3E}">
        <p14:creationId xmlns:p14="http://schemas.microsoft.com/office/powerpoint/2010/main" val="173504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A2D434-4476-E05C-CA98-7992C1485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Features</a:t>
            </a:r>
            <a:b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FCDC063-F060-CD0C-D8D2-A05BD22FA4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Gamble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Option: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Gewinn wird verdoppelt oder man verliert alles</a:t>
            </a:r>
          </a:p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Autoplay: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automatisierte Simulation</a:t>
            </a:r>
          </a:p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Safe vs. Risk Mode: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gleicher Erwartungswert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unterschiedliche Varianz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836991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9A6CC2-6C14-2BD8-38B1-FCBB56250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Erwartungswert &amp; Varianz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F983A01-95A3-0B11-11C8-375158DBD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85958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A99862-EA19-54D8-EDCE-D85E89AB6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 der Zufallszahlen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780C67E-9563-A35F-C973-5E2CE45BB43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e-DE" dirty="0">
                <a:solidFill>
                  <a:srgbClr val="C00000"/>
                </a:solidFill>
              </a:rPr>
              <a:t>Bild True RNG Stick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926B72C-19D1-F759-A075-74BD6A74099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e-DE" dirty="0"/>
              <a:t>Erzeugung von Zufallszahlen:</a:t>
            </a:r>
          </a:p>
          <a:p>
            <a:r>
              <a:rPr lang="de-DE" dirty="0"/>
              <a:t>Quantenzufall als Bitsequenz</a:t>
            </a:r>
          </a:p>
          <a:p>
            <a:r>
              <a:rPr lang="de-DE" dirty="0"/>
              <a:t>jeweils 32 Bit → 1 </a:t>
            </a:r>
            <a:r>
              <a:rPr lang="de-DE" dirty="0" err="1"/>
              <a:t>Float</a:t>
            </a:r>
            <a:r>
              <a:rPr lang="de-DE" dirty="0"/>
              <a:t> in [0,1)</a:t>
            </a:r>
          </a:p>
          <a:p>
            <a:pPr marL="0" indent="0">
              <a:buNone/>
            </a:pPr>
            <a:r>
              <a:rPr lang="de-DE" dirty="0"/>
              <a:t>Pro Spin:</a:t>
            </a:r>
          </a:p>
          <a:p>
            <a:r>
              <a:rPr lang="de-DE" dirty="0"/>
              <a:t>ca. 9–10 Zufallszahlen benötigt</a:t>
            </a:r>
          </a:p>
          <a:p>
            <a:pPr marL="0" indent="0">
              <a:buNone/>
            </a:pPr>
            <a:r>
              <a:rPr lang="de-DE" dirty="0"/>
              <a:t>Verwendung:</a:t>
            </a:r>
          </a:p>
          <a:p>
            <a:r>
              <a:rPr lang="de-DE" dirty="0"/>
              <a:t>Symbolauswahl</a:t>
            </a:r>
          </a:p>
          <a:p>
            <a:r>
              <a:rPr lang="de-DE" dirty="0"/>
              <a:t>Gewinnberechnung</a:t>
            </a:r>
          </a:p>
          <a:p>
            <a:r>
              <a:rPr lang="de-DE" dirty="0" err="1"/>
              <a:t>Gamble</a:t>
            </a:r>
            <a:r>
              <a:rPr lang="de-DE" dirty="0"/>
              <a:t>-Entscheidung</a:t>
            </a:r>
          </a:p>
        </p:txBody>
      </p:sp>
    </p:spTree>
    <p:extLst>
      <p:ext uri="{BB962C8B-B14F-4D97-AF65-F5344CB8AC3E}">
        <p14:creationId xmlns:p14="http://schemas.microsoft.com/office/powerpoint/2010/main" val="33350053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CED69F-2046-AE6A-EB40-BC9D5BB7C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Experimentdesign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7901723-E45E-C4D9-76D7-D57886B870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Gepaarter Versuchsaufbau:</a:t>
            </a:r>
            <a:b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b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Für jeden Run:</a:t>
            </a:r>
          </a:p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gleiche Seeds/</a:t>
            </a:r>
            <a:r>
              <a:rPr lang="de-DE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Bitsequnzen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für</a:t>
            </a:r>
          </a:p>
          <a:p>
            <a:pPr lvl="1"/>
            <a:r>
              <a:rPr lang="de-DE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Gamble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= nie</a:t>
            </a:r>
          </a:p>
          <a:p>
            <a:pPr lvl="1"/>
            <a:r>
              <a:rPr lang="de-DE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Gamble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= immer</a:t>
            </a:r>
          </a:p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Ansonsten gleiche Startbedingungen</a:t>
            </a:r>
            <a:b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b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→ direkte Vergleichbarkeit</a:t>
            </a:r>
            <a:b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→ geringere Varianz</a:t>
            </a:r>
          </a:p>
        </p:txBody>
      </p:sp>
    </p:spTree>
    <p:extLst>
      <p:ext uri="{BB962C8B-B14F-4D97-AF65-F5344CB8AC3E}">
        <p14:creationId xmlns:p14="http://schemas.microsoft.com/office/powerpoint/2010/main" val="19033516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EB2732A-A945-9E6A-BBF3-59F73B692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Experimentdesign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968876D-8C05-23A1-0CF1-BFA50A339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Direkter Vergleich von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56CE2AD-9394-0FBC-0B01-581B0713497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Zufallsquelle:</a:t>
            </a:r>
          </a:p>
          <a:p>
            <a:pPr lvl="1"/>
            <a:r>
              <a:rPr lang="de-DE" dirty="0"/>
              <a:t>Pseudozufall mit Seed (12345 – 12394)</a:t>
            </a:r>
          </a:p>
          <a:p>
            <a:pPr lvl="1"/>
            <a:r>
              <a:rPr lang="de-DE" dirty="0"/>
              <a:t>Vorgenerierte Bitsequenzen mit Quantenzufall</a:t>
            </a:r>
          </a:p>
          <a:p>
            <a:r>
              <a:rPr lang="de-DE" dirty="0" err="1"/>
              <a:t>Gamble</a:t>
            </a:r>
            <a:r>
              <a:rPr lang="de-DE" dirty="0"/>
              <a:t> – Mode:</a:t>
            </a:r>
          </a:p>
          <a:p>
            <a:pPr lvl="1"/>
            <a:r>
              <a:rPr lang="de-DE" dirty="0"/>
              <a:t>Immer</a:t>
            </a:r>
          </a:p>
          <a:p>
            <a:pPr lvl="1"/>
            <a:r>
              <a:rPr lang="de-DE" dirty="0"/>
              <a:t>Nie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DBB767D-DAE5-B651-969F-60CE6607CF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Startbedingungen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8E2AEF5-2688-9F56-76A7-3AE1711B4DAC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Startbedingungen </a:t>
            </a:r>
            <a:r>
              <a:rPr lang="de-DE" dirty="0" err="1"/>
              <a:t>anz</a:t>
            </a:r>
            <a:r>
              <a:rPr lang="de-DE" dirty="0"/>
              <a:t>. Spins etc.</a:t>
            </a:r>
          </a:p>
        </p:txBody>
      </p:sp>
    </p:spTree>
    <p:extLst>
      <p:ext uri="{BB962C8B-B14F-4D97-AF65-F5344CB8AC3E}">
        <p14:creationId xmlns:p14="http://schemas.microsoft.com/office/powerpoint/2010/main" val="12759738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0B5DCF-580B-42F5-95C1-D303BBBAD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Untersuchte Kennzahlen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5407F6-4891-9420-7023-080B6E2EF6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Erwartungswert:</a:t>
            </a:r>
          </a:p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RTP (Return </a:t>
            </a:r>
            <a:r>
              <a:rPr lang="de-DE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to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Player)</a:t>
            </a:r>
          </a:p>
          <a:p>
            <a:pPr marL="0" indent="0">
              <a:buNone/>
            </a:pP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Struktur:</a:t>
            </a:r>
          </a:p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Trefferquote</a:t>
            </a:r>
          </a:p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Serienlängen</a:t>
            </a:r>
          </a:p>
          <a:p>
            <a:pPr marL="0" indent="0">
              <a:buNone/>
            </a:pP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Dynamik:</a:t>
            </a:r>
          </a:p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Autokorrelation</a:t>
            </a:r>
          </a:p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Runs-Test</a:t>
            </a:r>
            <a:b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b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→ Ziel: Unterschiede im Zufallsverhalten erkennen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7D12A8B-D951-AF21-FBD1-02CC7A4B647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75348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D00E27-892D-2413-F0FD-9568CD716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Ergebnisse - RTP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7EAF3E7-8464-A83C-C031-6A1E508848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0897C36-70A8-BF4A-D649-3D7022A5A2B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000368E-C790-D8E8-2933-E06ABBD3E4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FB1860B-4647-C837-B7D8-BCD7A608E81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85943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07A409-0389-BC06-5213-7C98E17CC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4AABE3-5AC3-F202-998D-94A2AF5A3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Ergebnisse – Hit Rate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F2E1512-3AC2-7E67-4017-49229AAEA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3A50EF1-A6A8-3222-C950-7E2E85D6665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64DADF8-C805-8570-4AF2-AEDEDF763F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B38366F-CD01-95E3-F701-33C452BE451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6936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9529F-B049-1269-955D-09AD7E5DE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B97DB8-5797-8801-ABAA-70058D2D9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Ergebnisse – </a:t>
            </a:r>
            <a:r>
              <a:rPr lang="de-DE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Autocorrelation</a:t>
            </a:r>
            <a:endParaRPr lang="de-D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0046B24-C268-E2CB-080F-12BBB313BF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33F1F88-4BC3-7C89-43C4-D8262441516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55C8DC6-B142-0111-B9B5-3AC4A88E37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A6226DC-28D5-9D71-95F7-0B010B2D2EDE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767418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C73B67-34E7-06DD-DEAF-D52FEA0D2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Varianz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4829803-AD6A-69DC-FD7E-A91C21325D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A819DAD-6F69-0345-E1B4-C8C37C173C9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4B1BB88-9FC1-64C4-82C9-E9B7604174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1CF6F51-AE79-20C4-2EAE-148F1609B086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9031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3E6482-DED0-B676-8E87-95AAEEADE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FAzit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01F5A95-6500-FA23-6429-62EDEDEC0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Generierung Zufallszahlen</a:t>
            </a:r>
          </a:p>
          <a:p>
            <a:r>
              <a:rPr lang="de-DE" dirty="0"/>
              <a:t>Aggregation von 32 Bit zu einer Zahl</a:t>
            </a:r>
            <a:br>
              <a:rPr lang="de-DE" dirty="0"/>
            </a:br>
            <a:r>
              <a:rPr lang="de-DE" dirty="0"/>
              <a:t>kann die Eigenschaften des Zufalls beeinflussen</a:t>
            </a:r>
          </a:p>
          <a:p>
            <a:r>
              <a:rPr lang="de-DE" dirty="0"/>
              <a:t>Quellen Bilder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7773341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chaltkreis">
  <a:themeElements>
    <a:clrScheme name="Schaltkreis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Schaltkreis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chaltkreis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TM04033919[[fn=Schaltkreis]]</Template>
  <TotalTime>0</TotalTime>
  <Words>497</Words>
  <Application>Microsoft Office PowerPoint</Application>
  <PresentationFormat>Breitbild</PresentationFormat>
  <Paragraphs>116</Paragraphs>
  <Slides>18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3" baseType="lpstr">
      <vt:lpstr>Arial</vt:lpstr>
      <vt:lpstr>Cambria</vt:lpstr>
      <vt:lpstr>Symbol</vt:lpstr>
      <vt:lpstr>Tw Cen MT</vt:lpstr>
      <vt:lpstr>Schaltkreis</vt:lpstr>
      <vt:lpstr>Entwicklung eines einfachen Spiels unter Steuerung von Quantenzufall Analyse von Pseudo- vs. Quantenzufall</vt:lpstr>
      <vt:lpstr>GLiederung</vt:lpstr>
      <vt:lpstr>MOtivation</vt:lpstr>
      <vt:lpstr>Forschungsfrage</vt:lpstr>
      <vt:lpstr>Versuchsaufbau – Slot Maschine als Modell</vt:lpstr>
      <vt:lpstr>&amp; Features</vt:lpstr>
      <vt:lpstr>Spielmechanik</vt:lpstr>
      <vt:lpstr>Features </vt:lpstr>
      <vt:lpstr>Erwartungswert &amp; Varianz</vt:lpstr>
      <vt:lpstr>Umsetzung der Zufallszahlen</vt:lpstr>
      <vt:lpstr>Experimentdesign</vt:lpstr>
      <vt:lpstr>Experimentdesign</vt:lpstr>
      <vt:lpstr>Untersuchte Kennzahlen</vt:lpstr>
      <vt:lpstr>Ergebnisse - RTP</vt:lpstr>
      <vt:lpstr>Ergebnisse – Hit Rate</vt:lpstr>
      <vt:lpstr>Ergebnisse – Autocorrelation</vt:lpstr>
      <vt:lpstr>Varianz</vt:lpstr>
      <vt:lpstr>FAzit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Stefanie Freiheit</dc:creator>
  <cp:lastModifiedBy>Stefanie Freiheit</cp:lastModifiedBy>
  <cp:revision>1</cp:revision>
  <dcterms:created xsi:type="dcterms:W3CDTF">2026-04-15T12:04:24Z</dcterms:created>
  <dcterms:modified xsi:type="dcterms:W3CDTF">2026-04-15T13:37:18Z</dcterms:modified>
</cp:coreProperties>
</file>