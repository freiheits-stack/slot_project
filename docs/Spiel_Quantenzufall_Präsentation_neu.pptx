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2" r:id="rId6"/>
    <p:sldId id="276" r:id="rId7"/>
    <p:sldId id="277" r:id="rId8"/>
    <p:sldId id="278" r:id="rId9"/>
    <p:sldId id="266" r:id="rId10"/>
    <p:sldId id="273" r:id="rId11"/>
    <p:sldId id="283" r:id="rId12"/>
    <p:sldId id="280" r:id="rId13"/>
    <p:sldId id="279" r:id="rId14"/>
    <p:sldId id="282" r:id="rId15"/>
    <p:sldId id="284" r:id="rId16"/>
    <p:sldId id="285" r:id="rId17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316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6A834-6FAB-4BA6-A272-563BDCE7B8EB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3F4E0-FD2B-44DD-B351-287E5CFB9B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840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3F4E0-FD2B-44DD-B351-287E5CFB9B4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854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9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1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5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09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32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07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13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13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89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09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159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28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27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63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8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2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29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F0D314-95CE-74DE-04C4-D8E98B8800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de-DE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Entwicklung eines einfachen Spiels unter Steuerung von Quantenzufall</a:t>
            </a:r>
            <a:br>
              <a:rPr lang="de-DE" dirty="0"/>
            </a:br>
            <a:r>
              <a:rPr lang="de-DE" sz="2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Analyse von Pseudo- vs. Quantenzufall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3E223C-D13E-1185-DAA2-DC56DF3504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Stefanie Freiheit</a:t>
            </a:r>
            <a:br>
              <a:rPr lang="de-DE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Computational Science and Engineering</a:t>
            </a:r>
            <a:endParaRPr lang="de-D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</a:rPr>
              <a:t>Betreuer: Prof. Dr. Ralf Otte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</a:rPr>
              <a:t>Technische Hochschule Ulm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</a:rPr>
              <a:t>17.04.2026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5389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4DAC21-8AA8-0117-AE94-162FE78FA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2FED47-C3A5-2B12-1C4B-E874C6ED4A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Forschungsfrage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Versuchsaufbau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Spielmechanik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Erwartungswert &amp; Varianz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Umsetzung der Zufallszahlen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D9FD5FE-2B5C-481F-6B1E-3CAEAC08C0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Experimentdesign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Untersuchte Kennzahlen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Ergebnisse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RTP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Autokorrelation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Weitere Metriken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Fazit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Ausblick</a:t>
            </a:r>
          </a:p>
        </p:txBody>
      </p:sp>
    </p:spTree>
    <p:extLst>
      <p:ext uri="{BB962C8B-B14F-4D97-AF65-F5344CB8AC3E}">
        <p14:creationId xmlns:p14="http://schemas.microsoft.com/office/powerpoint/2010/main" val="357362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BE474-6199-21A7-23E2-FDCB5086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FFC6B5-5785-63FA-3761-129190A5A4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36900" lvl="0" indent="0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Zufall spielt eine zentrale Rolle in: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Glücksspielsystemen (z. B. Slot Maschinen)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Simulationen und Modellierungen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Kryptographischen Anwendungen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der Praxis werden meist Pseudozufallszahlen verwendet.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Frage: Reicht das aus?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576D00B-0CD3-AC84-39A8-E1019C69C566}"/>
              </a:ext>
            </a:extLst>
          </p:cNvPr>
          <p:cNvSpPr txBox="1"/>
          <p:nvPr/>
        </p:nvSpPr>
        <p:spPr>
          <a:xfrm>
            <a:off x="9906000" y="281454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[B1]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3D9C023-8B60-C4F7-EB33-0740781D69A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770" y="2515166"/>
            <a:ext cx="4507128" cy="300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AA9815-C4F7-E74F-3437-294FE687B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58567"/>
            <a:ext cx="9905998" cy="1478570"/>
          </a:xfrm>
        </p:spPr>
        <p:txBody>
          <a:bodyPr/>
          <a:lstStyle/>
          <a:p>
            <a:pPr algn="ctr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Forschungsfrage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273105-3247-7FA4-977F-759FBA662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957991"/>
            <a:ext cx="9905999" cy="283320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Unterscheidet sich das Verhalten von Pseudozufall und Quantenzufall in einem konkreten Anwendungsszenario (= Slot Maschine) messbar in statistischen Kennzahlen?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de-DE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9395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2C1D4E-C049-20BC-7114-893525B25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Versuchsaufbau – Slot Maschine als Modell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952372-28DA-9FC2-08AC-53667541A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Implementierung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A6DB417-49C2-4F93-7154-EFB27AC2AE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Programmiersprache: 	Python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IDE: 			VS-Code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Geteilt via: 		GIT-Repository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Ausgabe: 		CSV-Dateien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Auswertung:		MATLAB (statistische Tests)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8D0618F-C1E9-DD93-17EE-63474B7AE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Externe Hardware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F1E68F-E855-74DD-623E-F8F3C361063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 RNG - Stick</a:t>
            </a: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liefert physikalisch erzeugte Zufallsbits</a:t>
            </a:r>
          </a:p>
        </p:txBody>
      </p:sp>
    </p:spTree>
    <p:extLst>
      <p:ext uri="{BB962C8B-B14F-4D97-AF65-F5344CB8AC3E}">
        <p14:creationId xmlns:p14="http://schemas.microsoft.com/office/powerpoint/2010/main" val="370301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AECC78-6611-F181-F92D-33161654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Spielmechanik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0511B8-BCB6-5663-5A75-A69ECECD42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Walzen 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Symbole (A – E)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Zufallsquelle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Live Quantenzufall über True RNG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Vorgenerierte Zufalls-Bitsequenzen (reproduzierbar)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Pseudozufall (Reproduzierbar mit Seed)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Spielmodi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Manuell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Autoplay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8692C7-FDFF-8736-EE6D-188CFD9D9F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Einsätze (1 / 3 / 5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Credits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Gewinnlinienanzahl (1 / 3 / 5)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Startkapital wählbar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Ende des Spiels: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Manuell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Bankrott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 Autoplay:</a:t>
            </a:r>
          </a:p>
          <a:p>
            <a:pPr lvl="2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Wählbare Maximalanzahl an Spins</a:t>
            </a:r>
          </a:p>
          <a:p>
            <a:pPr lvl="2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Wählbarer Zielgewinn</a:t>
            </a:r>
          </a:p>
        </p:txBody>
      </p:sp>
    </p:spTree>
    <p:extLst>
      <p:ext uri="{BB962C8B-B14F-4D97-AF65-F5344CB8AC3E}">
        <p14:creationId xmlns:p14="http://schemas.microsoft.com/office/powerpoint/2010/main" val="17350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046B922C-5BA7-4973-B12F-71A509E4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6D34D8D-9EE9-4659-8C22-7551A95F9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CA93C16-1147-4EB3-B4E7-3C4310249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9" name="Rectangle 5">
                <a:extLst>
                  <a:ext uri="{FF2B5EF4-FFF2-40B4-BE49-F238E27FC236}">
                    <a16:creationId xmlns:a16="http://schemas.microsoft.com/office/drawing/2014/main" id="{C4779968-92AF-4B85-8C27-EBBFE1D699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0" name="Freeform 6">
                <a:extLst>
                  <a:ext uri="{FF2B5EF4-FFF2-40B4-BE49-F238E27FC236}">
                    <a16:creationId xmlns:a16="http://schemas.microsoft.com/office/drawing/2014/main" id="{2C43E18D-7024-4F17-A664-E23BFBC12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CA2ACEBA-081B-4B0B-AFB1-C596B834FD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2" name="Freeform 8">
                <a:extLst>
                  <a:ext uri="{FF2B5EF4-FFF2-40B4-BE49-F238E27FC236}">
                    <a16:creationId xmlns:a16="http://schemas.microsoft.com/office/drawing/2014/main" id="{2AFBB163-514B-493A-983F-8BE96848F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3" name="Freeform 9">
                <a:extLst>
                  <a:ext uri="{FF2B5EF4-FFF2-40B4-BE49-F238E27FC236}">
                    <a16:creationId xmlns:a16="http://schemas.microsoft.com/office/drawing/2014/main" id="{7720326C-7DB1-4745-9015-3FA699085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4" name="Freeform 10">
                <a:extLst>
                  <a:ext uri="{FF2B5EF4-FFF2-40B4-BE49-F238E27FC236}">
                    <a16:creationId xmlns:a16="http://schemas.microsoft.com/office/drawing/2014/main" id="{01D5FBDC-A284-440B-8D5F-84287B0A25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5" name="Freeform 11">
                <a:extLst>
                  <a:ext uri="{FF2B5EF4-FFF2-40B4-BE49-F238E27FC236}">
                    <a16:creationId xmlns:a16="http://schemas.microsoft.com/office/drawing/2014/main" id="{517CE611-1CB0-442B-8998-98487209B0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6" name="Freeform 12">
                <a:extLst>
                  <a:ext uri="{FF2B5EF4-FFF2-40B4-BE49-F238E27FC236}">
                    <a16:creationId xmlns:a16="http://schemas.microsoft.com/office/drawing/2014/main" id="{EF0F0E46-9222-4FCF-A79E-9B4953C6F0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7" name="Freeform 13">
                <a:extLst>
                  <a:ext uri="{FF2B5EF4-FFF2-40B4-BE49-F238E27FC236}">
                    <a16:creationId xmlns:a16="http://schemas.microsoft.com/office/drawing/2014/main" id="{371A87C3-0804-4AB9-8EAD-FBFF597ED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8" name="Freeform 14">
                <a:extLst>
                  <a:ext uri="{FF2B5EF4-FFF2-40B4-BE49-F238E27FC236}">
                    <a16:creationId xmlns:a16="http://schemas.microsoft.com/office/drawing/2014/main" id="{89F39433-8BC3-48D6-B705-F951DBDAAB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79" name="Freeform 15">
                <a:extLst>
                  <a:ext uri="{FF2B5EF4-FFF2-40B4-BE49-F238E27FC236}">
                    <a16:creationId xmlns:a16="http://schemas.microsoft.com/office/drawing/2014/main" id="{AE671C9D-E91C-4143-A422-273B2F53F6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0" name="Line 16">
                <a:extLst>
                  <a:ext uri="{FF2B5EF4-FFF2-40B4-BE49-F238E27FC236}">
                    <a16:creationId xmlns:a16="http://schemas.microsoft.com/office/drawing/2014/main" id="{83A72EA3-8833-41C6-9333-6A04C1C08D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1" name="Freeform 17">
                <a:extLst>
                  <a:ext uri="{FF2B5EF4-FFF2-40B4-BE49-F238E27FC236}">
                    <a16:creationId xmlns:a16="http://schemas.microsoft.com/office/drawing/2014/main" id="{2C0D7AAB-DC9C-4B37-A50E-A7185DE92E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2" name="Freeform 18">
                <a:extLst>
                  <a:ext uri="{FF2B5EF4-FFF2-40B4-BE49-F238E27FC236}">
                    <a16:creationId xmlns:a16="http://schemas.microsoft.com/office/drawing/2014/main" id="{6E7D9D6B-3455-4363-934B-FA2D682931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3" name="Freeform 19">
                <a:extLst>
                  <a:ext uri="{FF2B5EF4-FFF2-40B4-BE49-F238E27FC236}">
                    <a16:creationId xmlns:a16="http://schemas.microsoft.com/office/drawing/2014/main" id="{FFFFCA54-2217-4DAE-B791-4A6CA7DE0B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4" name="Freeform 20">
                <a:extLst>
                  <a:ext uri="{FF2B5EF4-FFF2-40B4-BE49-F238E27FC236}">
                    <a16:creationId xmlns:a16="http://schemas.microsoft.com/office/drawing/2014/main" id="{BAE43BA5-C104-4FBB-B1C6-C210D3CC53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5" name="Rectangle 21">
                <a:extLst>
                  <a:ext uri="{FF2B5EF4-FFF2-40B4-BE49-F238E27FC236}">
                    <a16:creationId xmlns:a16="http://schemas.microsoft.com/office/drawing/2014/main" id="{3BDB2330-DF01-460D-83FB-00C37965C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6" name="Freeform 22">
                <a:extLst>
                  <a:ext uri="{FF2B5EF4-FFF2-40B4-BE49-F238E27FC236}">
                    <a16:creationId xmlns:a16="http://schemas.microsoft.com/office/drawing/2014/main" id="{51261093-9B7F-4406-B2F8-0F5BE7676A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7" name="Freeform 23">
                <a:extLst>
                  <a:ext uri="{FF2B5EF4-FFF2-40B4-BE49-F238E27FC236}">
                    <a16:creationId xmlns:a16="http://schemas.microsoft.com/office/drawing/2014/main" id="{9971E195-2AB6-4CB6-9BD7-A8407B5C8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8" name="Freeform 24">
                <a:extLst>
                  <a:ext uri="{FF2B5EF4-FFF2-40B4-BE49-F238E27FC236}">
                    <a16:creationId xmlns:a16="http://schemas.microsoft.com/office/drawing/2014/main" id="{A3D843E7-8A86-4676-9C98-DECE0DFF67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89" name="Freeform 25">
                <a:extLst>
                  <a:ext uri="{FF2B5EF4-FFF2-40B4-BE49-F238E27FC236}">
                    <a16:creationId xmlns:a16="http://schemas.microsoft.com/office/drawing/2014/main" id="{FAF42817-AB3E-40FA-997F-EAC1411F4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0" name="Freeform 26">
                <a:extLst>
                  <a:ext uri="{FF2B5EF4-FFF2-40B4-BE49-F238E27FC236}">
                    <a16:creationId xmlns:a16="http://schemas.microsoft.com/office/drawing/2014/main" id="{50ED3298-A6DC-4825-93B1-68DB8CB629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1" name="Freeform 27">
                <a:extLst>
                  <a:ext uri="{FF2B5EF4-FFF2-40B4-BE49-F238E27FC236}">
                    <a16:creationId xmlns:a16="http://schemas.microsoft.com/office/drawing/2014/main" id="{2B951778-3B6B-4BB9-9D89-2ED650C82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2" name="Freeform 28">
                <a:extLst>
                  <a:ext uri="{FF2B5EF4-FFF2-40B4-BE49-F238E27FC236}">
                    <a16:creationId xmlns:a16="http://schemas.microsoft.com/office/drawing/2014/main" id="{8F3ED9A8-A83F-463A-8C2E-E83977D9A9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3" name="Freeform 29">
                <a:extLst>
                  <a:ext uri="{FF2B5EF4-FFF2-40B4-BE49-F238E27FC236}">
                    <a16:creationId xmlns:a16="http://schemas.microsoft.com/office/drawing/2014/main" id="{9A0C113E-781D-4083-86C0-EC936092D2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4" name="Freeform 30">
                <a:extLst>
                  <a:ext uri="{FF2B5EF4-FFF2-40B4-BE49-F238E27FC236}">
                    <a16:creationId xmlns:a16="http://schemas.microsoft.com/office/drawing/2014/main" id="{B63D60EF-1E99-4D4C-BF11-AAF8ABEB86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95" name="Freeform 31">
                <a:extLst>
                  <a:ext uri="{FF2B5EF4-FFF2-40B4-BE49-F238E27FC236}">
                    <a16:creationId xmlns:a16="http://schemas.microsoft.com/office/drawing/2014/main" id="{50403E41-7079-49EA-8D0B-4F678552D9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3B2C458-4D37-49A0-A94E-D516E05C3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59" name="Freeform 32">
                <a:extLst>
                  <a:ext uri="{FF2B5EF4-FFF2-40B4-BE49-F238E27FC236}">
                    <a16:creationId xmlns:a16="http://schemas.microsoft.com/office/drawing/2014/main" id="{C1B10016-E0C4-4526-A466-9911541D26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0" name="Freeform 33">
                <a:extLst>
                  <a:ext uri="{FF2B5EF4-FFF2-40B4-BE49-F238E27FC236}">
                    <a16:creationId xmlns:a16="http://schemas.microsoft.com/office/drawing/2014/main" id="{D574C3F0-FC2B-43A3-94B2-75D305FBF7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1" name="Freeform 34">
                <a:extLst>
                  <a:ext uri="{FF2B5EF4-FFF2-40B4-BE49-F238E27FC236}">
                    <a16:creationId xmlns:a16="http://schemas.microsoft.com/office/drawing/2014/main" id="{D92A5F66-F404-433B-BDBE-5E0DFF40D6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2" name="Freeform 35">
                <a:extLst>
                  <a:ext uri="{FF2B5EF4-FFF2-40B4-BE49-F238E27FC236}">
                    <a16:creationId xmlns:a16="http://schemas.microsoft.com/office/drawing/2014/main" id="{0A0BDF81-64CC-431D-81B1-A21938C05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3" name="Freeform 36">
                <a:extLst>
                  <a:ext uri="{FF2B5EF4-FFF2-40B4-BE49-F238E27FC236}">
                    <a16:creationId xmlns:a16="http://schemas.microsoft.com/office/drawing/2014/main" id="{42871530-50EC-42C2-879A-AE8154DAD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4" name="Freeform 37">
                <a:extLst>
                  <a:ext uri="{FF2B5EF4-FFF2-40B4-BE49-F238E27FC236}">
                    <a16:creationId xmlns:a16="http://schemas.microsoft.com/office/drawing/2014/main" id="{53AF2F2A-B148-4906-B90D-6E2223978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5" name="Freeform 38">
                <a:extLst>
                  <a:ext uri="{FF2B5EF4-FFF2-40B4-BE49-F238E27FC236}">
                    <a16:creationId xmlns:a16="http://schemas.microsoft.com/office/drawing/2014/main" id="{9A79EAA4-6F5D-4A2C-B688-CD29C2217C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6" name="Freeform 39">
                <a:extLst>
                  <a:ext uri="{FF2B5EF4-FFF2-40B4-BE49-F238E27FC236}">
                    <a16:creationId xmlns:a16="http://schemas.microsoft.com/office/drawing/2014/main" id="{B9CE5833-22CF-4408-9338-4B7749FEA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7" name="Freeform 40">
                <a:extLst>
                  <a:ext uri="{FF2B5EF4-FFF2-40B4-BE49-F238E27FC236}">
                    <a16:creationId xmlns:a16="http://schemas.microsoft.com/office/drawing/2014/main" id="{316A985A-7ADD-4BEE-A7B6-E5B49E1839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68" name="Rectangle 41">
                <a:extLst>
                  <a:ext uri="{FF2B5EF4-FFF2-40B4-BE49-F238E27FC236}">
                    <a16:creationId xmlns:a16="http://schemas.microsoft.com/office/drawing/2014/main" id="{352CFA3F-5CFE-412E-9196-C966F3457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pic>
        <p:nvPicPr>
          <p:cNvPr id="97" name="Picture 2">
            <a:extLst>
              <a:ext uri="{FF2B5EF4-FFF2-40B4-BE49-F238E27FC236}">
                <a16:creationId xmlns:a16="http://schemas.microsoft.com/office/drawing/2014/main" id="{2FB01CCF-839B-4126-9BF9-132C64D8A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BBFBF2C-C4D5-45F2-1BC3-4FF3F214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</a:t>
            </a:r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99" name="Round Diagonal Corner Rectangle 6">
            <a:extLst>
              <a:ext uri="{FF2B5EF4-FFF2-40B4-BE49-F238E27FC236}">
                <a16:creationId xmlns:a16="http://schemas.microsoft.com/office/drawing/2014/main" id="{F2B1468C-8227-4785-8776-7BDBDDF08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09D00A46-226E-8955-AF22-293F20D7E61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58" y="1137621"/>
            <a:ext cx="2528955" cy="4577297"/>
          </a:xfrm>
          <a:prstGeom prst="rect">
            <a:avLst/>
          </a:prstGeom>
        </p:spPr>
      </p:pic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97CFD0-2545-4BA7-3B44-B63ACFA7A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8643" y="2249487"/>
            <a:ext cx="6188402" cy="354171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 Option:</a:t>
            </a:r>
          </a:p>
          <a:p>
            <a:pPr lvl="1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Gewinn wird verdoppelt oder man verliert alles</a:t>
            </a:r>
          </a:p>
          <a:p>
            <a:pPr lvl="1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Wahrscheinlichkeit 50 %</a:t>
            </a:r>
          </a:p>
          <a:p>
            <a:pPr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Autoplay:</a:t>
            </a:r>
          </a:p>
          <a:p>
            <a:pPr lvl="1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automatisierte Simulation</a:t>
            </a:r>
          </a:p>
          <a:p>
            <a:pPr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Safe vs. Risk Mode:</a:t>
            </a:r>
          </a:p>
          <a:p>
            <a:pPr lvl="1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gleicher Erwartungswert</a:t>
            </a:r>
          </a:p>
          <a:p>
            <a:pPr lvl="1">
              <a:lnSpc>
                <a:spcPct val="110000"/>
              </a:lnSpc>
            </a:pPr>
            <a:r>
              <a:rPr 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unterschiedliche Varianz</a:t>
            </a:r>
          </a:p>
          <a:p>
            <a:pPr>
              <a:lnSpc>
                <a:spcPct val="110000"/>
              </a:lnSpc>
            </a:pPr>
            <a:endParaRPr lang="en-US" sz="1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932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D11360-6D09-7C4A-A250-17BA2DC3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Erwartungswert &amp; Varianz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97ED98-36E3-6A5D-4BE0-878690ABC1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Wahrscheinlichkeiten der Symbole:</a:t>
            </a:r>
          </a:p>
          <a:p>
            <a:pPr marL="0" indent="0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A: 30%, B: 25 %, C: 20%, D:15 %, E: 10%</a:t>
            </a:r>
          </a:p>
          <a:p>
            <a:pPr marL="0" indent="0">
              <a:buNone/>
            </a:pP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Multiplikator des Einsatzes bei 3 gleichen Symbolen auf einer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Payline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Safe Mode: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A: 5, </a:t>
            </a:r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B: 15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C: 30, D: 60, </a:t>
            </a:r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E: 150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Mode: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A: 5, </a:t>
            </a:r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B: 7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C: 30, D: 60, </a:t>
            </a:r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E: 275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1B11B50C-8D61-F0C0-43DD-C9C8F0DEBCD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Erwartungswert </a:t>
                </a:r>
                <a14:m>
                  <m:oMath xmlns:m="http://schemas.openxmlformats.org/officeDocument/2006/math">
                    <m:r>
                      <a:rPr lang="de-DE" b="0" i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ctrlPr>
                          <a:rPr lang="de-DE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de-DE" b="0" i="1" baseline="-25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baseline="30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de-DE" b="0" i="1" baseline="-25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de-DE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</a:t>
                </a:r>
              </a:p>
              <a:p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Safe Mode = 	0,961875</a:t>
                </a:r>
              </a:p>
              <a:p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Risk Mode = 	0,961875</a:t>
                </a:r>
              </a:p>
              <a:p>
                <a:pPr lvl="1">
                  <a:buFont typeface="Wingdings" panose="05000000000000000000" pitchFamily="2" charset="2"/>
                  <a:buChar char="à"/>
                </a:pPr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Wingdings" panose="05000000000000000000" pitchFamily="2" charset="2"/>
                  </a:rPr>
                  <a:t> Hausvorteil beträgt im Durchschnitt immer  </a:t>
                </a:r>
                <a:b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Wingdings" panose="05000000000000000000" pitchFamily="2" charset="2"/>
                  </a:rPr>
                </a:br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Wingdings" panose="05000000000000000000" pitchFamily="2" charset="2"/>
                  </a:rPr>
                  <a:t> 3,8125 %</a:t>
                </a:r>
              </a:p>
              <a:p>
                <a:pPr marL="0" indent="0">
                  <a:buNone/>
                </a:pPr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Wingdings" panose="05000000000000000000" pitchFamily="2" charset="2"/>
                  </a:rPr>
                  <a:t>Varianz </a:t>
                </a:r>
                <a14:m>
                  <m:oMath xmlns:m="http://schemas.openxmlformats.org/officeDocument/2006/math">
                    <m:r>
                      <a:rPr lang="de-DE" b="0" i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nary>
                      <m:naryPr>
                        <m:chr m:val="∑"/>
                        <m:ctrlPr>
                          <a:rPr lang="de-DE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sup>
                      <m:e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  <m:r>
                          <a:rPr lang="de-DE" b="0" i="1" baseline="-25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de-DE" b="0" i="1" baseline="30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de-DE" b="0" i="1" baseline="-25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de-DE" b="0" i="1" baseline="300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</m:e>
                    </m:nary>
                    <m:r>
                      <a:rPr lang="de-DE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d>
                      <m:dPr>
                        <m:ctrlPr>
                          <a:rPr lang="de-DE" b="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  <m: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=1</m:t>
                            </m:r>
                          </m:sub>
                          <m:sup>
                            <m: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5</m:t>
                            </m:r>
                          </m:sup>
                          <m:e>
                            <m: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𝑝</m:t>
                            </m:r>
                            <m:r>
                              <a:rPr lang="de-DE" b="0" i="1" baseline="-25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  <m:r>
                              <a:rPr lang="de-DE" b="0" i="1" baseline="30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  <m: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𝑚</m:t>
                            </m:r>
                            <m:r>
                              <a:rPr lang="de-DE" b="0" i="1" baseline="-25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  <m:r>
                              <a:rPr lang="de-DE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 </m:t>
                            </m:r>
                          </m:e>
                        </m:nary>
                      </m:e>
                    </m:d>
                    <m:r>
                      <a:rPr lang="de-DE" b="0" i="1" baseline="300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2 </m:t>
                    </m:r>
                    <m:r>
                      <a:rPr lang="de-DE" b="0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:</a:t>
                </a:r>
              </a:p>
              <a:p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Safe Mode ≈ 	45,115</a:t>
                </a:r>
              </a:p>
              <a:p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Risk Mode ≈	95,490</a:t>
                </a:r>
              </a:p>
              <a:p>
                <a:pPr marL="457200" lvl="1" indent="0">
                  <a:buNone/>
                </a:pPr>
                <a:r>
                  <a:rPr lang="de-DE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Wingdings" panose="05000000000000000000" pitchFamily="2" charset="2"/>
                  </a:rPr>
                  <a:t> Spielerlebnis verändert sich deutlich</a:t>
                </a:r>
                <a:endParaRPr lang="de-DE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1B11B50C-8D61-F0C0-43DD-C9C8F0DEB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03" t="-13425" b="-25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671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A99862-EA19-54D8-EDCE-D85E89AB6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Umsetzung der Zufallszahlen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926B72C-19D1-F759-A075-74BD6A7409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Erzeugung von Zufallszahlen: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Quantenzufall als Bitsequenz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jeweils 32 Bit → 1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[0,1)</a:t>
            </a:r>
          </a:p>
          <a:p>
            <a:pPr marL="0" indent="0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 Spin: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 Zufallszahlen für die Symbolauswahl benötigt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+1 Zufallszahl falls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Mode genutzt wird</a:t>
            </a:r>
          </a:p>
        </p:txBody>
      </p:sp>
      <p:pic>
        <p:nvPicPr>
          <p:cNvPr id="2050" name="Picture 2" descr="TrueRNG V3 – USB Hardware Zufallszahlengenerator">
            <a:extLst>
              <a:ext uri="{FF2B5EF4-FFF2-40B4-BE49-F238E27FC236}">
                <a16:creationId xmlns:a16="http://schemas.microsoft.com/office/drawing/2014/main" id="{77186A1D-8045-41D7-C72D-6461D342C40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2984500"/>
            <a:ext cx="4288717" cy="2033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089F769-9B13-4755-E12A-0549E9BAE69B}"/>
              </a:ext>
            </a:extLst>
          </p:cNvPr>
          <p:cNvSpPr txBox="1"/>
          <p:nvPr/>
        </p:nvSpPr>
        <p:spPr>
          <a:xfrm>
            <a:off x="9906000" y="281454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[B2]</a:t>
            </a:r>
          </a:p>
        </p:txBody>
      </p:sp>
    </p:spTree>
    <p:extLst>
      <p:ext uri="{BB962C8B-B14F-4D97-AF65-F5344CB8AC3E}">
        <p14:creationId xmlns:p14="http://schemas.microsoft.com/office/powerpoint/2010/main" val="3335005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B2732A-A945-9E6A-BBF3-59F73B69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Experimentdesign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68876D-8C05-23A1-0CF1-BFA50A339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Direkter Vergleich von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56CE2AD-9394-0FBC-0B01-581B071349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Zufallsquelle: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Pseudozufall mit Seed (12345 – 12394)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Vorgenerierte Bitsequenzen mit Quantenzufall</a:t>
            </a:r>
          </a:p>
          <a:p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Mode: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Immer</a:t>
            </a:r>
          </a:p>
          <a:p>
            <a:pPr lvl="1"/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DBB767D-DAE5-B651-969F-60CE6607C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Startbedingungen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8E2AEF5-2688-9F56-76A7-3AE1711B4DA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Safe Mode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Geringe Varianz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Startguthaben: 1000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Credits</a:t>
            </a:r>
            <a:endParaRPr lang="de-D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Maximalanzahl an Spins pro Durchlauf: 7000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Anzahl an Runs pro Zufallsquelle/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Mode: 50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Einsatz pro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Payline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1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Credit</a:t>
            </a:r>
            <a:endParaRPr lang="de-D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Anzahl der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Paylines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5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Direkte Vergleichbarkeit</a:t>
            </a:r>
            <a:endParaRPr lang="de-D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75973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BA7E41-2DC1-D9E2-998F-0E7DEDC7A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Untersuchte Kennzahlen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421577-376A-F47B-0825-449BD472A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8649" y="2249486"/>
            <a:ext cx="3030147" cy="823912"/>
          </a:xfrm>
        </p:spPr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Run-Level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FC42FF-EE6E-8A80-5E79-87C2A134A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0041" y="3073397"/>
            <a:ext cx="3375358" cy="2717801"/>
          </a:xfrm>
        </p:spPr>
        <p:txBody>
          <a:bodyPr>
            <a:normAutofit fontScale="85000" lnSpcReduction="1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RTP (Verhältnis Gewinn zu Einsatz)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Endguthaben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Max. Verlustserie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Max. Gewinnserie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Mittlerer Trefferabstand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C106FDE-3BBD-216A-8D79-5E91E54039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27097" y="2249485"/>
            <a:ext cx="3177891" cy="823912"/>
          </a:xfrm>
        </p:spPr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Statistische Tests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D47C9ED-BD17-5520-495F-F5EA24382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90411" y="3073397"/>
            <a:ext cx="3176440" cy="2717801"/>
          </a:xfrm>
        </p:spPr>
        <p:txBody>
          <a:bodyPr>
            <a:normAutofit fontScale="85000" lnSpcReduction="1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Durchschnittlicher Gewinn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Varianz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Autokorrelation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Run-Test (Wald-Wolfowitz-Test)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Trefferquote</a:t>
            </a:r>
          </a:p>
          <a:p>
            <a:endParaRPr lang="de-DE" dirty="0"/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E545D4EC-4CF3-93C2-5D51-9BA7BF7797F2}"/>
              </a:ext>
            </a:extLst>
          </p:cNvPr>
          <p:cNvSpPr txBox="1">
            <a:spLocks/>
          </p:cNvSpPr>
          <p:nvPr/>
        </p:nvSpPr>
        <p:spPr>
          <a:xfrm>
            <a:off x="7807179" y="3073399"/>
            <a:ext cx="3172937" cy="179931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T-Test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Mann-Whitney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KS-Test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Effektgröße (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Cohen‘s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d)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11EEF70C-C930-0A8A-0BDA-747CCAEF3AFE}"/>
              </a:ext>
            </a:extLst>
          </p:cNvPr>
          <p:cNvSpPr txBox="1">
            <a:spLocks/>
          </p:cNvSpPr>
          <p:nvPr/>
        </p:nvSpPr>
        <p:spPr>
          <a:xfrm>
            <a:off x="4813832" y="2249485"/>
            <a:ext cx="4646602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b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Spin-Level</a:t>
            </a:r>
          </a:p>
        </p:txBody>
      </p:sp>
    </p:spTree>
    <p:extLst>
      <p:ext uri="{BB962C8B-B14F-4D97-AF65-F5344CB8AC3E}">
        <p14:creationId xmlns:p14="http://schemas.microsoft.com/office/powerpoint/2010/main" val="3123236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924D8-2E41-C849-7CA9-B0FA18EB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7881E48-EF13-EBCC-7F3D-B615A37DE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348024"/>
            <a:ext cx="2851417" cy="1478570"/>
          </a:xfrm>
        </p:spPr>
        <p:txBody>
          <a:bodyPr>
            <a:normAutofit/>
          </a:bodyPr>
          <a:lstStyle/>
          <a:p>
            <a:r>
              <a:rPr lang="de-DE" sz="2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Ergebnisse – RTP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BB1F375-E0CD-F947-7BAD-FCC1AF6B9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99" y="1547283"/>
            <a:ext cx="3084765" cy="4576957"/>
          </a:xfrm>
        </p:spPr>
        <p:txBody>
          <a:bodyPr>
            <a:normAutofit lnSpcReduction="10000"/>
          </a:bodyPr>
          <a:lstStyle/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Misst das Verhältnis von Auszahlungen zu den Einsätzen</a:t>
            </a:r>
          </a:p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Erwartungswert ≈ 0,96 </a:t>
            </a:r>
          </a:p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Ergebnis:  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Werte streuen um 0,96  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</a:t>
            </a:r>
            <a:r>
              <a:rPr lang="de-DE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</a:t>
            </a: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Mode erhöht die </a:t>
            </a:r>
            <a:b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Varianz 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Kein signifikanter Unterschied </a:t>
            </a:r>
            <a:b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zwischen Pseudo- und</a:t>
            </a:r>
            <a:b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Quantenzufall</a:t>
            </a:r>
          </a:p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Ausreißer:  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</a:t>
            </a:r>
            <a:r>
              <a:rPr lang="de-DE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</a:t>
            </a: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kann aus Gewinnen </a:t>
            </a:r>
            <a:b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Verluste machen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zufällige Schwankungen  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endliche Anzahl an Spins</a:t>
            </a:r>
            <a:endParaRPr lang="en-US" sz="1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C4B277F8-8C07-C544-592E-956C9BAF8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567" y="1173162"/>
            <a:ext cx="6476158" cy="438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978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8A7B6FB-F577-5676-5D2E-091CACB1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de-DE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Ergebnisse – Auto-korrelation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0347817-7EE8-A347-1497-38F6C60F1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620" y="2249487"/>
            <a:ext cx="2862444" cy="3957302"/>
          </a:xfrm>
        </p:spPr>
        <p:txBody>
          <a:bodyPr>
            <a:normAutofit/>
          </a:bodyPr>
          <a:lstStyle/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Misst Abhängigkeit zwischen aufeinanderfolgenden Spins</a:t>
            </a:r>
          </a:p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Erwartung bei Zufall ≈ 0 (Unabhängigkeit)</a:t>
            </a:r>
          </a:p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Ergebnis:  </a:t>
            </a:r>
          </a:p>
          <a:p>
            <a:pPr marL="457200" lvl="1" indent="0">
              <a:buNone/>
            </a:pPr>
            <a:r>
              <a:rPr lang="de-DE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Werte streuen um 0  </a:t>
            </a:r>
          </a:p>
          <a:p>
            <a:pPr marL="457200" lvl="1" indent="0">
              <a:buNone/>
            </a:pPr>
            <a:r>
              <a:rPr lang="de-DE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keine systematische Struktur</a:t>
            </a:r>
          </a:p>
          <a:p>
            <a:r>
              <a:rPr lang="de-DE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Ausreißer:  </a:t>
            </a:r>
          </a:p>
          <a:p>
            <a:pPr marL="457200" lvl="1" indent="0">
              <a:buNone/>
            </a:pPr>
            <a:r>
              <a:rPr lang="de-DE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zufällige Schwankungen  </a:t>
            </a:r>
          </a:p>
          <a:p>
            <a:pPr marL="457200" lvl="1" indent="0">
              <a:buNone/>
            </a:pPr>
            <a:r>
              <a:rPr lang="de-DE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→ seltene große Gewinne</a:t>
            </a:r>
            <a:endParaRPr lang="en-US" sz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5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F1DA6B6A-BDA3-BA92-BBAA-616CA08E3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679" y="764494"/>
            <a:ext cx="7900684" cy="521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55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6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7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8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89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0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2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3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5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6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7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8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99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1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2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3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4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5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6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7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08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110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5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6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7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8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19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0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1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2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3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4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5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6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7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8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29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0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1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2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3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4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5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6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7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8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39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0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  <p:sp>
          <p:nvSpPr>
            <p:cNvPr id="141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143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59E3DE-5DB9-6A22-CAF9-599643FFE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1"/>
            <a:ext cx="2743310" cy="4255025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Weitere Metriken</a:t>
            </a:r>
          </a:p>
        </p:txBody>
      </p:sp>
      <p:graphicFrame>
        <p:nvGraphicFramePr>
          <p:cNvPr id="42" name="Inhaltsplatzhalter 41">
            <a:extLst>
              <a:ext uri="{FF2B5EF4-FFF2-40B4-BE49-F238E27FC236}">
                <a16:creationId xmlns:a16="http://schemas.microsoft.com/office/drawing/2014/main" id="{D8909832-2392-6885-1521-C0BEAAC160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2321724"/>
              </p:ext>
            </p:extLst>
          </p:nvPr>
        </p:nvGraphicFramePr>
        <p:xfrm>
          <a:off x="4298904" y="1289050"/>
          <a:ext cx="7765842" cy="4268246"/>
        </p:xfrm>
        <a:graphic>
          <a:graphicData uri="http://schemas.openxmlformats.org/drawingml/2006/table">
            <a:tbl>
              <a:tblPr firstRow="1" bandRow="1"/>
              <a:tblGrid>
                <a:gridCol w="2210404">
                  <a:extLst>
                    <a:ext uri="{9D8B030D-6E8A-4147-A177-3AD203B41FA5}">
                      <a16:colId xmlns:a16="http://schemas.microsoft.com/office/drawing/2014/main" val="981429345"/>
                    </a:ext>
                  </a:extLst>
                </a:gridCol>
                <a:gridCol w="841274">
                  <a:extLst>
                    <a:ext uri="{9D8B030D-6E8A-4147-A177-3AD203B41FA5}">
                      <a16:colId xmlns:a16="http://schemas.microsoft.com/office/drawing/2014/main" val="1762322637"/>
                    </a:ext>
                  </a:extLst>
                </a:gridCol>
                <a:gridCol w="820478">
                  <a:extLst>
                    <a:ext uri="{9D8B030D-6E8A-4147-A177-3AD203B41FA5}">
                      <a16:colId xmlns:a16="http://schemas.microsoft.com/office/drawing/2014/main" val="1514069739"/>
                    </a:ext>
                  </a:extLst>
                </a:gridCol>
                <a:gridCol w="967788">
                  <a:extLst>
                    <a:ext uri="{9D8B030D-6E8A-4147-A177-3AD203B41FA5}">
                      <a16:colId xmlns:a16="http://schemas.microsoft.com/office/drawing/2014/main" val="3288612179"/>
                    </a:ext>
                  </a:extLst>
                </a:gridCol>
                <a:gridCol w="1102969">
                  <a:extLst>
                    <a:ext uri="{9D8B030D-6E8A-4147-A177-3AD203B41FA5}">
                      <a16:colId xmlns:a16="http://schemas.microsoft.com/office/drawing/2014/main" val="3711079657"/>
                    </a:ext>
                  </a:extLst>
                </a:gridCol>
                <a:gridCol w="955659">
                  <a:extLst>
                    <a:ext uri="{9D8B030D-6E8A-4147-A177-3AD203B41FA5}">
                      <a16:colId xmlns:a16="http://schemas.microsoft.com/office/drawing/2014/main" val="3379847897"/>
                    </a:ext>
                  </a:extLst>
                </a:gridCol>
                <a:gridCol w="867270">
                  <a:extLst>
                    <a:ext uri="{9D8B030D-6E8A-4147-A177-3AD203B41FA5}">
                      <a16:colId xmlns:a16="http://schemas.microsoft.com/office/drawing/2014/main" val="4246108390"/>
                    </a:ext>
                  </a:extLst>
                </a:gridCol>
              </a:tblGrid>
              <a:tr h="2815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Quelle / </a:t>
                      </a:r>
                      <a:r>
                        <a:rPr lang="de-DE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Gamble</a:t>
                      </a:r>
                      <a:r>
                        <a:rPr lang="de-D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Mode 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Run-Test (p-</a:t>
                      </a:r>
                      <a:r>
                        <a:rPr lang="de-DE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value</a:t>
                      </a:r>
                      <a:r>
                        <a:rPr lang="de-D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Wald-Wolfowitz)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Trefferquote (Spins)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Varianz (Spins)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Max. Verlustserie (Run) 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Mittlerer Trefferabstand (Run)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Endguthaben (Run)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71230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Pseudo / Never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0,5086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0,239898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202,293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25,88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4,1620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233,8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283530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Quantum / Never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0,4117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0,238412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203,224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26,14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4,1948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389,2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57664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Pseudo / Always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0,5177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0,118897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430,825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50,14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8,3945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425,4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832414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Quantum / Always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0,5268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0,117299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433,600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48,86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8,5026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585,0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667304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Abweichung Quellen / Always [%]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1,7578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1,3440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0,6441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2,5529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1,2877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37,5176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009228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Abweichung Quellen / Never [%]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19,0523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0,6194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0,4602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1,0046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0,7881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66,4671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614527"/>
                  </a:ext>
                </a:extLst>
              </a:tr>
              <a:tr h="2161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Pseudo / Abweichung Gamble Modes [%]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1,7892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50,4385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112,9708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93,7403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101,6939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81,9504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115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Quantum / Abweichung Gamble Modes [%]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27,9573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50,7999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113,3606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86,9166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102,6938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50,3083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845000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Durchschnitt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0,4912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0,1786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317,99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37,76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6,3135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408,35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262594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Standartabweichung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0,0470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0,0610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115,70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11,86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2,1200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126,60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547721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T-Test (Mittelwert) p-Wert never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0,8872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0,5413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0,9216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0,8002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0,4468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0,2827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78816"/>
                  </a:ext>
                </a:extLst>
              </a:tr>
              <a:tr h="2194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T-Test (Mittelwert) p-Wert allways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0,1048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0,3348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0,9162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0,5159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0,4044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0,4807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212912"/>
                  </a:ext>
                </a:extLst>
              </a:tr>
              <a:tr h="2145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Mann-Whitney (Rangverteilung) p-Wert </a:t>
                      </a:r>
                      <a:r>
                        <a:rPr lang="de-DE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never</a:t>
                      </a:r>
                      <a:endParaRPr lang="de-DE" sz="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0,9698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0,5932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0,7538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0,8196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0,6172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0,1524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906836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Mann-Whitney (Rangverteilung) p-Wert always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0,1467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0,5464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0,9204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0,5739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0,6817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0,5780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97158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KS-Test (gesamte Verteilung) p-Wert never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0,8409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0,3584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0,5077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0,8409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0,3584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0,6779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67477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KS-Test (gesamte Verteilung) p-Wert always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0,1546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0,6779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0,9541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0,9958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0,9541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1,0000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5644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Cohen's d (Zufälligkeit des Unterschieds) never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-0,0284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0,1227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-0,0197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-0,0508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-0,1529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-0,2160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94819"/>
                  </a:ext>
                </a:extLst>
              </a:tr>
              <a:tr h="1935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Cohen's d (Zufälligkeit des Unterschieds) always</a:t>
                      </a:r>
                    </a:p>
                  </a:txBody>
                  <a:tcPr marL="4670" marR="4670" marT="46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0,3276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0,1939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-0,0211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0,1304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-0,1676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-0,1416</a:t>
                      </a:r>
                    </a:p>
                  </a:txBody>
                  <a:tcPr marL="4670" marR="4670" marT="46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22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319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E78D12-07F1-6A9A-B7C7-38E32E3B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14AD9A-E040-8B13-1F5B-E960F97A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Keine statistisch signifikanten Unterschiede zwischen den Zufallsquellen feststellbar, lediglich leichte Abweichungen beim Run-Test und dem Endguthaben.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Statistische Streuung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p-Werte des Run-Tests basieren auf Zufall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Numerische Schwankungen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Möglicherweise ausgewertete Datenmenge zu klein</a:t>
            </a:r>
          </a:p>
          <a:p>
            <a:pPr marL="0" indent="0">
              <a:buNone/>
            </a:pPr>
            <a:b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Insgesamt ergibt sich somit kein aussagekräftiger Hinweis darauf, dass Quantenzufall in diesem Anwendungskontext andere Ergebnisse liefert als klassischer Pseudozufall.</a:t>
            </a:r>
          </a:p>
        </p:txBody>
      </p:sp>
    </p:spTree>
    <p:extLst>
      <p:ext uri="{BB962C8B-B14F-4D97-AF65-F5344CB8AC3E}">
        <p14:creationId xmlns:p14="http://schemas.microsoft.com/office/powerpoint/2010/main" val="1906036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01B3AD-98C6-9F93-E31D-006031585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016" y="299395"/>
            <a:ext cx="9905998" cy="1478570"/>
          </a:xfrm>
        </p:spPr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7A149-6611-AFCB-8F3C-E5AC4E51E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809" y="1620145"/>
            <a:ext cx="10359162" cy="4504494"/>
          </a:xfrm>
        </p:spPr>
        <p:txBody>
          <a:bodyPr>
            <a:normAutofit fontScale="70000" lnSpcReduction="2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Abweichungen bei den Ergebnissen des Run-Test und des Endguthabens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Testen der Reproduzierbarkeit der Abweichungen des Run-Tests und der Endguthaben durch erneutes Durchführen mit neu generierten Quantum-Bitsequenzen, um die Stabilität der Ergebnisse zu überprüfen.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Aggregation von 32 Bit zu einer Zahl kann die Eigenschaften des Zufalls beeinflussen, vor allem Verteilung und Korrelation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Variation der Art der Zufallszahlengenerierung, beispielsweise durch andere Bitlängen oder alternative Transformationen der Rohdaten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Modellierung älterer Slot Maschinen, bei denen die Symbole nicht unabhängig gezogen werden, sondern durch feste Walzenstrukturen bestimmt sind.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Entwicklung eines grafischen Interface</a:t>
            </a:r>
          </a:p>
          <a:p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Option nur </a:t>
            </a:r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Gamblen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falls Gewinn höher/tiefer als x implementieren 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Statistische Untersuchung von Save und Risk Mode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Eine Analyse realer Spielautomaten wäre von Interesse, insbesondere ob moderne Systeme ausschließlich auf Wahrscheinlichkeiten basieren oder zusätzliche Steuerungsmechanismen enthalten.</a:t>
            </a:r>
          </a:p>
        </p:txBody>
      </p:sp>
    </p:spTree>
    <p:extLst>
      <p:ext uri="{BB962C8B-B14F-4D97-AF65-F5344CB8AC3E}">
        <p14:creationId xmlns:p14="http://schemas.microsoft.com/office/powerpoint/2010/main" val="1262270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E6482-DED0-B676-8E87-95AAEEADE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Quellen Bilder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1F5A95-6500-FA23-6429-62EDEDEC0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[B1]: https://artpictures.club/autumn-2023.html</a:t>
            </a:r>
          </a:p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[B2]: https://www.amazon.com/TrueRNG-V3-Hardware-Random-Generator/dp/B01KR2JHTA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77334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TM04033919[[fn=Schaltkreis]]</Template>
  <TotalTime>0</TotalTime>
  <Words>1116</Words>
  <Application>Microsoft Office PowerPoint</Application>
  <PresentationFormat>Breitbild</PresentationFormat>
  <Paragraphs>296</Paragraphs>
  <Slides>17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5" baseType="lpstr">
      <vt:lpstr>Aptos</vt:lpstr>
      <vt:lpstr>Aptos Narrow</vt:lpstr>
      <vt:lpstr>Arial</vt:lpstr>
      <vt:lpstr>Cambria</vt:lpstr>
      <vt:lpstr>Cambria Math</vt:lpstr>
      <vt:lpstr>Tw Cen MT</vt:lpstr>
      <vt:lpstr>Wingdings</vt:lpstr>
      <vt:lpstr>Schaltkreis</vt:lpstr>
      <vt:lpstr>Entwicklung eines einfachen Spiels unter Steuerung von Quantenzufall Analyse von Pseudo- vs. Quantenzufall</vt:lpstr>
      <vt:lpstr>Gliederung</vt:lpstr>
      <vt:lpstr>Motivation</vt:lpstr>
      <vt:lpstr>Forschungsfrage</vt:lpstr>
      <vt:lpstr>Versuchsaufbau – Slot Maschine als Modell</vt:lpstr>
      <vt:lpstr>Spielmechanik</vt:lpstr>
      <vt:lpstr>Features</vt:lpstr>
      <vt:lpstr>Erwartungswert &amp; Varianz</vt:lpstr>
      <vt:lpstr>Umsetzung der Zufallszahlen</vt:lpstr>
      <vt:lpstr>Experimentdesign</vt:lpstr>
      <vt:lpstr>Untersuchte Kennzahlen</vt:lpstr>
      <vt:lpstr>Ergebnisse – RTP</vt:lpstr>
      <vt:lpstr>Ergebnisse – Auto-korrelation</vt:lpstr>
      <vt:lpstr>Weitere Metriken</vt:lpstr>
      <vt:lpstr>Fazit</vt:lpstr>
      <vt:lpstr>Ausblick</vt:lpstr>
      <vt:lpstr>Quellen Bilder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Stefanie Freiheit</dc:creator>
  <cp:lastModifiedBy>Stefanie Freiheit</cp:lastModifiedBy>
  <cp:revision>15</cp:revision>
  <dcterms:created xsi:type="dcterms:W3CDTF">2026-04-15T12:04:24Z</dcterms:created>
  <dcterms:modified xsi:type="dcterms:W3CDTF">2026-04-17T15:23:11Z</dcterms:modified>
</cp:coreProperties>
</file>